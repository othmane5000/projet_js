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Instrument Sans Medium" panose="020B0604020202020204" charset="0"/>
      <p:regular r:id="rId12"/>
    </p:embeddedFont>
    <p:embeddedFont>
      <p:font typeface="Open Sans" panose="020B0606030504020204" pitchFamily="34" charset="0"/>
      <p:regular r:id="rId13"/>
      <p:bold r:id="rId14"/>
      <p:italic r:id="rId15"/>
      <p:boldItalic r:id="rId16"/>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48D40-B6CA-436A-B4B0-9D29BB4224E9}" v="269" dt="2026-01-11T21:57:11.484"/>
    <p1510:client id="{83D8F4F0-0682-47D2-B6B8-528EB10F28A2}" v="108" dt="2026-01-11T01:20:32.814"/>
    <p1510:client id="{EE1848BD-B39C-4327-9A2D-59AC609B0F65}" v="86" dt="2026-01-11T00:56:58.137"/>
    <p1510:client id="{FB1CA5A9-DF45-488E-85F6-E4565E74113E}" v="295" dt="2026-01-11T01:10:03.2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32DDFA3C-2860-4ABC-A11C-2521DC22B53D}" type="datetimeFigureOut">
              <a:t>11/01/2026</a:t>
            </a:fld>
            <a:endParaRPr lang="fr-FR"/>
          </a:p>
        </p:txBody>
      </p:sp>
      <p:sp>
        <p:nvSpPr>
          <p:cNvPr id="4" name="Espace réservé de l'image des diapositives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F67C7359-3FAC-4E8D-BD6C-C6CD3994DD04}" type="slidenum">
              <a:t>‹N°›</a:t>
            </a:fld>
            <a:endParaRPr lang="fr-FR"/>
          </a:p>
        </p:txBody>
      </p:sp>
    </p:spTree>
    <p:extLst>
      <p:ext uri="{BB962C8B-B14F-4D97-AF65-F5344CB8AC3E}">
        <p14:creationId xmlns:p14="http://schemas.microsoft.com/office/powerpoint/2010/main" val="2904848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73404"/>
            <a:ext cx="7088267" cy="901184"/>
          </a:xfrm>
          <a:prstGeom prst="rect">
            <a:avLst/>
          </a:prstGeom>
          <a:noFill/>
          <a:ln/>
        </p:spPr>
        <p:txBody>
          <a:bodyPr wrap="none" lIns="0" tIns="0" rIns="0" bIns="0" rtlCol="0" anchor="t"/>
          <a:lstStyle/>
          <a:p>
            <a:pPr marL="0" indent="0" algn="l">
              <a:lnSpc>
                <a:spcPts val="6950"/>
              </a:lnSpc>
              <a:buNone/>
            </a:pPr>
            <a:r>
              <a:rPr lang="en-US" sz="5550" dirty="0">
                <a:solidFill>
                  <a:srgbClr val="FEFEFE"/>
                </a:solidFill>
                <a:latin typeface="Instrument Sans Medium" pitchFamily="34" charset="0"/>
                <a:ea typeface="Instrument Sans Medium" pitchFamily="34" charset="-122"/>
                <a:cs typeface="Instrument Sans Medium" pitchFamily="34" charset="-120"/>
              </a:rPr>
              <a:t>CINETECH </a:t>
            </a:r>
            <a:r>
              <a:rPr lang="en-US" sz="5550" dirty="0">
                <a:solidFill>
                  <a:srgbClr val="000000"/>
                </a:solidFill>
                <a:latin typeface="Instrument Sans Medium" pitchFamily="34" charset="0"/>
                <a:ea typeface="Instrument Sans Medium" pitchFamily="34" charset="-122"/>
                <a:cs typeface="Instrument Sans Medium" pitchFamily="34" charset="-120"/>
              </a:rPr>
              <a:t>🎬</a:t>
            </a:r>
            <a:endParaRPr lang="en-US" sz="5550" dirty="0"/>
          </a:p>
        </p:txBody>
      </p:sp>
      <p:sp>
        <p:nvSpPr>
          <p:cNvPr id="4" name="Text 1"/>
          <p:cNvSpPr/>
          <p:nvPr/>
        </p:nvSpPr>
        <p:spPr>
          <a:xfrm>
            <a:off x="793790" y="3487936"/>
            <a:ext cx="7532370"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Smart Backoffice Dashboard</a:t>
            </a:r>
            <a:endParaRPr lang="en-US" sz="4450" dirty="0"/>
          </a:p>
        </p:txBody>
      </p:sp>
      <p:sp>
        <p:nvSpPr>
          <p:cNvPr id="5" name="Text 2"/>
          <p:cNvSpPr/>
          <p:nvPr/>
        </p:nvSpPr>
        <p:spPr>
          <a:xfrm>
            <a:off x="793790" y="4622006"/>
            <a:ext cx="7556421" cy="1134189"/>
          </a:xfrm>
          <a:prstGeom prst="rect">
            <a:avLst/>
          </a:prstGeom>
          <a:noFill/>
          <a:ln/>
        </p:spPr>
        <p:txBody>
          <a:bodyPr wrap="square" lIns="0" tIns="0" rIns="0" bIns="0" rtlCol="0" anchor="t"/>
          <a:lstStyle/>
          <a:p>
            <a:pPr marL="0" indent="0" algn="l">
              <a:lnSpc>
                <a:spcPts val="4450"/>
              </a:lnSpc>
              <a:buNone/>
            </a:pPr>
            <a:r>
              <a:rPr lang="en-US" sz="2750" dirty="0">
                <a:solidFill>
                  <a:srgbClr val="BFBFBF"/>
                </a:solidFill>
                <a:latin typeface="Open Sans" pitchFamily="34" charset="0"/>
                <a:ea typeface="Open Sans" pitchFamily="34" charset="-122"/>
                <a:cs typeface="Open Sans" pitchFamily="34" charset="-120"/>
              </a:rPr>
              <a:t>Un projet de développement web pour la filière 3IIR, année universitaire 2025-2026.</a:t>
            </a:r>
            <a:endParaRPr lang="en-US" sz="2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8413" y="202440"/>
            <a:ext cx="3938945" cy="463153"/>
          </a:xfrm>
          <a:prstGeom prst="rect">
            <a:avLst/>
          </a:prstGeom>
          <a:noFill/>
          <a:ln/>
        </p:spPr>
        <p:txBody>
          <a:bodyPr wrap="none" lIns="0" tIns="0" rIns="0" bIns="0" rtlCol="0" anchor="t"/>
          <a:lstStyle/>
          <a:p>
            <a:pPr marL="0" indent="0" algn="l">
              <a:lnSpc>
                <a:spcPts val="3600"/>
              </a:lnSpc>
              <a:buNone/>
            </a:pPr>
            <a:r>
              <a:rPr lang="en-US" sz="3200" dirty="0">
                <a:solidFill>
                  <a:srgbClr val="FEFEFE"/>
                </a:solidFill>
                <a:latin typeface="Instrument Sans Medium" pitchFamily="34" charset="0"/>
                <a:ea typeface="Instrument Sans Medium" pitchFamily="34" charset="-122"/>
                <a:cs typeface="Instrument Sans Medium" pitchFamily="34" charset="-120"/>
              </a:rPr>
              <a:t>Plan de la Présentation</a:t>
            </a:r>
            <a:endParaRPr lang="en-US" sz="3200" dirty="0"/>
          </a:p>
        </p:txBody>
      </p:sp>
      <p:sp>
        <p:nvSpPr>
          <p:cNvPr id="3" name="Shape 1"/>
          <p:cNvSpPr/>
          <p:nvPr/>
        </p:nvSpPr>
        <p:spPr>
          <a:xfrm>
            <a:off x="638413" y="1386483"/>
            <a:ext cx="592812" cy="912971"/>
          </a:xfrm>
          <a:prstGeom prst="roundRect">
            <a:avLst>
              <a:gd name="adj" fmla="val 360008"/>
            </a:avLst>
          </a:prstGeom>
          <a:solidFill>
            <a:srgbClr val="3E3E3E"/>
          </a:solidFill>
          <a:ln/>
        </p:spPr>
      </p:sp>
      <p:sp>
        <p:nvSpPr>
          <p:cNvPr id="4" name="Text 2"/>
          <p:cNvSpPr/>
          <p:nvPr/>
        </p:nvSpPr>
        <p:spPr>
          <a:xfrm>
            <a:off x="823674" y="1704023"/>
            <a:ext cx="222290" cy="277773"/>
          </a:xfrm>
          <a:prstGeom prst="rect">
            <a:avLst/>
          </a:prstGeom>
          <a:noFill/>
          <a:ln/>
        </p:spPr>
        <p:txBody>
          <a:bodyPr wrap="none" lIns="0" tIns="0" rIns="0" bIns="0" rtlCol="0" anchor="t"/>
          <a:lstStyle/>
          <a:p>
            <a:pPr marL="0" indent="0" algn="l">
              <a:lnSpc>
                <a:spcPts val="1750"/>
              </a:lnSpc>
              <a:buNone/>
            </a:pPr>
            <a:r>
              <a:rPr lang="en-US" dirty="0">
                <a:solidFill>
                  <a:srgbClr val="BFBFBF"/>
                </a:solidFill>
                <a:latin typeface="Instrument Sans Medium" pitchFamily="34" charset="0"/>
                <a:ea typeface="Instrument Sans Medium" pitchFamily="34" charset="-122"/>
                <a:cs typeface="Instrument Sans Medium" pitchFamily="34" charset="-120"/>
              </a:rPr>
              <a:t>1</a:t>
            </a:r>
            <a:endParaRPr lang="en-US" dirty="0"/>
          </a:p>
        </p:txBody>
      </p:sp>
      <p:sp>
        <p:nvSpPr>
          <p:cNvPr id="5" name="Text 3"/>
          <p:cNvSpPr/>
          <p:nvPr/>
        </p:nvSpPr>
        <p:spPr>
          <a:xfrm>
            <a:off x="1281368" y="1436626"/>
            <a:ext cx="2815878" cy="296891"/>
          </a:xfrm>
          <a:prstGeom prst="rect">
            <a:avLst/>
          </a:prstGeom>
          <a:noFill/>
          <a:ln/>
        </p:spPr>
        <p:txBody>
          <a:bodyPr wrap="none" lIns="0" tIns="0" rIns="0" bIns="0" rtlCol="0" anchor="t"/>
          <a:lstStyle/>
          <a:p>
            <a:pPr marL="0" indent="0" algn="l">
              <a:lnSpc>
                <a:spcPts val="1800"/>
              </a:lnSpc>
              <a:buNone/>
            </a:pPr>
            <a:r>
              <a:rPr lang="en-US" b="1" dirty="0">
                <a:solidFill>
                  <a:srgbClr val="BFBFBF"/>
                </a:solidFill>
                <a:latin typeface="Instrument Sans Medium"/>
                <a:ea typeface="Instrument Sans Medium" pitchFamily="34" charset="-122"/>
                <a:cs typeface="Instrument Sans Medium" pitchFamily="34" charset="-120"/>
              </a:rPr>
              <a:t>Contexte &amp; Objectifs</a:t>
            </a:r>
            <a:endParaRPr lang="en-US" b="1">
              <a:latin typeface="Instrument Sans Medium"/>
              <a:ea typeface="Calibri"/>
              <a:cs typeface="Calibri"/>
            </a:endParaRPr>
          </a:p>
        </p:txBody>
      </p:sp>
      <p:sp>
        <p:nvSpPr>
          <p:cNvPr id="6" name="Text 4"/>
          <p:cNvSpPr/>
          <p:nvPr/>
        </p:nvSpPr>
        <p:spPr>
          <a:xfrm>
            <a:off x="1379339" y="1854994"/>
            <a:ext cx="12612648" cy="296347"/>
          </a:xfrm>
          <a:prstGeom prst="rect">
            <a:avLst/>
          </a:prstGeom>
          <a:noFill/>
          <a:ln/>
        </p:spPr>
        <p:txBody>
          <a:bodyPr wrap="none" lIns="0" tIns="0" rIns="0" bIns="0" rtlCol="0" anchor="t"/>
          <a:lstStyle/>
          <a:p>
            <a:pPr marL="0" indent="0" algn="l">
              <a:lnSpc>
                <a:spcPts val="2300"/>
              </a:lnSpc>
              <a:buNone/>
            </a:pPr>
            <a:r>
              <a:rPr lang="en-US" dirty="0">
                <a:solidFill>
                  <a:srgbClr val="BFBFBF"/>
                </a:solidFill>
                <a:latin typeface="Open Sans"/>
                <a:ea typeface="Open Sans"/>
                <a:cs typeface="Open Sans"/>
              </a:rPr>
              <a:t>Comprendre le défi et les buts du projet CineTech.</a:t>
            </a:r>
            <a:endParaRPr lang="en-US">
              <a:latin typeface="Open Sans"/>
              <a:ea typeface="Open Sans"/>
              <a:cs typeface="Open Sans"/>
            </a:endParaRPr>
          </a:p>
        </p:txBody>
      </p:sp>
      <p:sp>
        <p:nvSpPr>
          <p:cNvPr id="7" name="Shape 5"/>
          <p:cNvSpPr/>
          <p:nvPr/>
        </p:nvSpPr>
        <p:spPr>
          <a:xfrm>
            <a:off x="638413" y="2447568"/>
            <a:ext cx="592812" cy="912971"/>
          </a:xfrm>
          <a:prstGeom prst="roundRect">
            <a:avLst>
              <a:gd name="adj" fmla="val 360008"/>
            </a:avLst>
          </a:prstGeom>
          <a:solidFill>
            <a:srgbClr val="3E3E3E"/>
          </a:solidFill>
          <a:ln/>
        </p:spPr>
      </p:sp>
      <p:sp>
        <p:nvSpPr>
          <p:cNvPr id="8" name="Text 6"/>
          <p:cNvSpPr/>
          <p:nvPr/>
        </p:nvSpPr>
        <p:spPr>
          <a:xfrm>
            <a:off x="823674" y="2765108"/>
            <a:ext cx="222290" cy="277773"/>
          </a:xfrm>
          <a:prstGeom prst="rect">
            <a:avLst/>
          </a:prstGeom>
          <a:noFill/>
          <a:ln/>
        </p:spPr>
        <p:txBody>
          <a:bodyPr wrap="none" lIns="0" tIns="0" rIns="0" bIns="0" rtlCol="0" anchor="t"/>
          <a:lstStyle/>
          <a:p>
            <a:pPr marL="0" indent="0" algn="l">
              <a:lnSpc>
                <a:spcPts val="1750"/>
              </a:lnSpc>
              <a:buNone/>
            </a:pPr>
            <a:r>
              <a:rPr lang="en-US" dirty="0">
                <a:solidFill>
                  <a:srgbClr val="BFBFBF"/>
                </a:solidFill>
                <a:latin typeface="Instrument Sans Medium" pitchFamily="34" charset="0"/>
                <a:ea typeface="Instrument Sans Medium" pitchFamily="34" charset="-122"/>
                <a:cs typeface="Instrument Sans Medium" pitchFamily="34" charset="-120"/>
              </a:rPr>
              <a:t>2</a:t>
            </a:r>
            <a:endParaRPr lang="en-US" dirty="0"/>
          </a:p>
        </p:txBody>
      </p:sp>
      <p:sp>
        <p:nvSpPr>
          <p:cNvPr id="9" name="Text 7"/>
          <p:cNvSpPr/>
          <p:nvPr/>
        </p:nvSpPr>
        <p:spPr>
          <a:xfrm>
            <a:off x="1314025" y="2497711"/>
            <a:ext cx="2809245" cy="296891"/>
          </a:xfrm>
          <a:prstGeom prst="rect">
            <a:avLst/>
          </a:prstGeom>
          <a:noFill/>
          <a:ln/>
        </p:spPr>
        <p:txBody>
          <a:bodyPr wrap="none" lIns="0" tIns="0" rIns="0" bIns="0" rtlCol="0" anchor="t"/>
          <a:lstStyle/>
          <a:p>
            <a:pPr marL="0" indent="0" algn="l">
              <a:lnSpc>
                <a:spcPts val="1800"/>
              </a:lnSpc>
              <a:buNone/>
            </a:pPr>
            <a:r>
              <a:rPr lang="en-US" b="1" dirty="0">
                <a:solidFill>
                  <a:srgbClr val="BFBFBF"/>
                </a:solidFill>
                <a:latin typeface="Instrument Sans Medium"/>
                <a:ea typeface="Instrument Sans Medium" pitchFamily="34" charset="-122"/>
                <a:cs typeface="Instrument Sans Medium" pitchFamily="34" charset="-120"/>
              </a:rPr>
              <a:t>Architecture CineTech</a:t>
            </a:r>
            <a:endParaRPr lang="en-US" b="1">
              <a:latin typeface="Instrument Sans Medium"/>
              <a:ea typeface="Calibri"/>
              <a:cs typeface="Calibri"/>
            </a:endParaRPr>
          </a:p>
        </p:txBody>
      </p:sp>
      <p:sp>
        <p:nvSpPr>
          <p:cNvPr id="10" name="Text 8"/>
          <p:cNvSpPr/>
          <p:nvPr/>
        </p:nvSpPr>
        <p:spPr>
          <a:xfrm>
            <a:off x="1379339" y="2916079"/>
            <a:ext cx="12612648" cy="296347"/>
          </a:xfrm>
          <a:prstGeom prst="rect">
            <a:avLst/>
          </a:prstGeom>
          <a:noFill/>
          <a:ln/>
        </p:spPr>
        <p:txBody>
          <a:bodyPr wrap="none" lIns="0" tIns="0" rIns="0" bIns="0" rtlCol="0" anchor="t"/>
          <a:lstStyle/>
          <a:p>
            <a:pPr marL="0" indent="0" algn="l">
              <a:lnSpc>
                <a:spcPts val="2300"/>
              </a:lnSpc>
              <a:buNone/>
            </a:pPr>
            <a:r>
              <a:rPr lang="en-US" dirty="0">
                <a:solidFill>
                  <a:srgbClr val="BFBFBF"/>
                </a:solidFill>
                <a:latin typeface="Open Sans"/>
                <a:ea typeface="Open Sans"/>
                <a:cs typeface="Open Sans"/>
              </a:rPr>
              <a:t>Découvrir la structure modulaire de l'application.</a:t>
            </a:r>
            <a:endParaRPr lang="en-US">
              <a:latin typeface="Calibri"/>
              <a:ea typeface="Calibri"/>
              <a:cs typeface="Calibri"/>
            </a:endParaRPr>
          </a:p>
        </p:txBody>
      </p:sp>
      <p:sp>
        <p:nvSpPr>
          <p:cNvPr id="11" name="Shape 9"/>
          <p:cNvSpPr/>
          <p:nvPr/>
        </p:nvSpPr>
        <p:spPr>
          <a:xfrm>
            <a:off x="638413" y="3508653"/>
            <a:ext cx="592812" cy="912971"/>
          </a:xfrm>
          <a:prstGeom prst="roundRect">
            <a:avLst>
              <a:gd name="adj" fmla="val 360008"/>
            </a:avLst>
          </a:prstGeom>
          <a:solidFill>
            <a:srgbClr val="3E3E3E"/>
          </a:solidFill>
          <a:ln/>
        </p:spPr>
      </p:sp>
      <p:sp>
        <p:nvSpPr>
          <p:cNvPr id="12" name="Text 10"/>
          <p:cNvSpPr/>
          <p:nvPr/>
        </p:nvSpPr>
        <p:spPr>
          <a:xfrm>
            <a:off x="823674" y="3826193"/>
            <a:ext cx="222290" cy="277773"/>
          </a:xfrm>
          <a:prstGeom prst="rect">
            <a:avLst/>
          </a:prstGeom>
          <a:noFill/>
          <a:ln/>
        </p:spPr>
        <p:txBody>
          <a:bodyPr wrap="none" lIns="0" tIns="0" rIns="0" bIns="0" rtlCol="0" anchor="t"/>
          <a:lstStyle/>
          <a:p>
            <a:pPr marL="0" indent="0" algn="l">
              <a:lnSpc>
                <a:spcPts val="1750"/>
              </a:lnSpc>
              <a:buNone/>
            </a:pPr>
            <a:r>
              <a:rPr lang="en-US" dirty="0">
                <a:solidFill>
                  <a:srgbClr val="BFBFBF"/>
                </a:solidFill>
                <a:latin typeface="Instrument Sans Medium" pitchFamily="34" charset="0"/>
                <a:ea typeface="Instrument Sans Medium" pitchFamily="34" charset="-122"/>
                <a:cs typeface="Instrument Sans Medium" pitchFamily="34" charset="-120"/>
              </a:rPr>
              <a:t>3</a:t>
            </a:r>
            <a:endParaRPr lang="en-US" dirty="0"/>
          </a:p>
        </p:txBody>
      </p:sp>
      <p:sp>
        <p:nvSpPr>
          <p:cNvPr id="13" name="Text 11"/>
          <p:cNvSpPr/>
          <p:nvPr/>
        </p:nvSpPr>
        <p:spPr>
          <a:xfrm>
            <a:off x="1379339" y="3609471"/>
            <a:ext cx="2735361" cy="326169"/>
          </a:xfrm>
          <a:prstGeom prst="rect">
            <a:avLst/>
          </a:prstGeom>
          <a:noFill/>
          <a:ln/>
        </p:spPr>
        <p:txBody>
          <a:bodyPr wrap="none" lIns="0" tIns="0" rIns="0" bIns="0" rtlCol="0" anchor="t"/>
          <a:lstStyle/>
          <a:p>
            <a:pPr marL="0" indent="0" algn="l">
              <a:lnSpc>
                <a:spcPts val="1800"/>
              </a:lnSpc>
              <a:buNone/>
            </a:pPr>
            <a:r>
              <a:rPr lang="en-US" sz="2000" dirty="0">
                <a:solidFill>
                  <a:srgbClr val="BFBFBF"/>
                </a:solidFill>
                <a:latin typeface="Instrument Sans Medium"/>
                <a:ea typeface="Instrument Sans Medium" pitchFamily="34" charset="-122"/>
                <a:cs typeface="Instrument Sans Medium" pitchFamily="34" charset="-120"/>
              </a:rPr>
              <a:t>Stack Technique</a:t>
            </a:r>
            <a:endParaRPr lang="en-US" sz="2000">
              <a:latin typeface="Instrument Sans Medium"/>
              <a:ea typeface="Calibri"/>
              <a:cs typeface="Calibri"/>
            </a:endParaRPr>
          </a:p>
        </p:txBody>
      </p:sp>
      <p:sp>
        <p:nvSpPr>
          <p:cNvPr id="14" name="Text 12"/>
          <p:cNvSpPr/>
          <p:nvPr/>
        </p:nvSpPr>
        <p:spPr>
          <a:xfrm>
            <a:off x="1379339" y="3977164"/>
            <a:ext cx="12612648" cy="296347"/>
          </a:xfrm>
          <a:prstGeom prst="rect">
            <a:avLst/>
          </a:prstGeom>
          <a:noFill/>
          <a:ln/>
        </p:spPr>
        <p:txBody>
          <a:bodyPr wrap="none" lIns="0" tIns="0" rIns="0" bIns="0" rtlCol="0" anchor="t"/>
          <a:lstStyle/>
          <a:p>
            <a:pPr marL="0" indent="0" algn="l">
              <a:lnSpc>
                <a:spcPts val="2300"/>
              </a:lnSpc>
              <a:buNone/>
            </a:pPr>
            <a:r>
              <a:rPr lang="en-US" dirty="0">
                <a:solidFill>
                  <a:srgbClr val="BFBFBF"/>
                </a:solidFill>
                <a:latin typeface="Open Sans"/>
                <a:ea typeface="Open Sans"/>
                <a:cs typeface="Open Sans"/>
              </a:rPr>
              <a:t>Les technologies utilisées et leur intégration.</a:t>
            </a:r>
            <a:endParaRPr lang="en-US">
              <a:latin typeface="Calibri"/>
              <a:ea typeface="Calibri"/>
              <a:cs typeface="Calibri"/>
            </a:endParaRPr>
          </a:p>
        </p:txBody>
      </p:sp>
      <p:sp>
        <p:nvSpPr>
          <p:cNvPr id="15" name="Shape 13"/>
          <p:cNvSpPr/>
          <p:nvPr/>
        </p:nvSpPr>
        <p:spPr>
          <a:xfrm>
            <a:off x="638413" y="4569738"/>
            <a:ext cx="592812" cy="912971"/>
          </a:xfrm>
          <a:prstGeom prst="roundRect">
            <a:avLst>
              <a:gd name="adj" fmla="val 360008"/>
            </a:avLst>
          </a:prstGeom>
          <a:solidFill>
            <a:srgbClr val="3E3E3E"/>
          </a:solidFill>
          <a:ln/>
        </p:spPr>
      </p:sp>
      <p:sp>
        <p:nvSpPr>
          <p:cNvPr id="16" name="Text 14"/>
          <p:cNvSpPr/>
          <p:nvPr/>
        </p:nvSpPr>
        <p:spPr>
          <a:xfrm>
            <a:off x="823674" y="4887278"/>
            <a:ext cx="222290" cy="277773"/>
          </a:xfrm>
          <a:prstGeom prst="rect">
            <a:avLst/>
          </a:prstGeom>
          <a:noFill/>
          <a:ln/>
        </p:spPr>
        <p:txBody>
          <a:bodyPr wrap="none" lIns="0" tIns="0" rIns="0" bIns="0" rtlCol="0" anchor="t"/>
          <a:lstStyle/>
          <a:p>
            <a:pPr marL="0" indent="0" algn="l">
              <a:lnSpc>
                <a:spcPts val="1750"/>
              </a:lnSpc>
              <a:buNone/>
            </a:pPr>
            <a:r>
              <a:rPr lang="en-US" dirty="0">
                <a:solidFill>
                  <a:srgbClr val="BFBFBF"/>
                </a:solidFill>
                <a:latin typeface="Instrument Sans Medium" pitchFamily="34" charset="0"/>
                <a:ea typeface="Instrument Sans Medium" pitchFamily="34" charset="-122"/>
                <a:cs typeface="Instrument Sans Medium" pitchFamily="34" charset="-120"/>
              </a:rPr>
              <a:t>4</a:t>
            </a:r>
            <a:endParaRPr lang="en-US" dirty="0"/>
          </a:p>
        </p:txBody>
      </p:sp>
      <p:sp>
        <p:nvSpPr>
          <p:cNvPr id="17" name="Text 15"/>
          <p:cNvSpPr/>
          <p:nvPr/>
        </p:nvSpPr>
        <p:spPr>
          <a:xfrm>
            <a:off x="1346682" y="4619881"/>
            <a:ext cx="2815878" cy="296891"/>
          </a:xfrm>
          <a:prstGeom prst="rect">
            <a:avLst/>
          </a:prstGeom>
          <a:noFill/>
          <a:ln/>
        </p:spPr>
        <p:txBody>
          <a:bodyPr wrap="none" lIns="0" tIns="0" rIns="0" bIns="0" rtlCol="0" anchor="t"/>
          <a:lstStyle/>
          <a:p>
            <a:pPr marL="0" indent="0" algn="l">
              <a:lnSpc>
                <a:spcPts val="1800"/>
              </a:lnSpc>
              <a:buNone/>
            </a:pPr>
            <a:r>
              <a:rPr lang="en-US" b="1" dirty="0">
                <a:solidFill>
                  <a:srgbClr val="BFBFBF"/>
                </a:solidFill>
                <a:latin typeface="Instrument Sans Medium"/>
                <a:ea typeface="Instrument Sans Medium" pitchFamily="34" charset="-122"/>
                <a:cs typeface="Instrument Sans Medium" pitchFamily="34" charset="-120"/>
              </a:rPr>
              <a:t>Fonctionnalités Clés</a:t>
            </a:r>
            <a:endParaRPr lang="en-US" b="1">
              <a:latin typeface="Instrument Sans Medium"/>
              <a:ea typeface="Calibri"/>
              <a:cs typeface="Calibri"/>
            </a:endParaRPr>
          </a:p>
        </p:txBody>
      </p:sp>
      <p:sp>
        <p:nvSpPr>
          <p:cNvPr id="18" name="Text 16"/>
          <p:cNvSpPr/>
          <p:nvPr/>
        </p:nvSpPr>
        <p:spPr>
          <a:xfrm>
            <a:off x="1379339" y="5038249"/>
            <a:ext cx="12612648" cy="296347"/>
          </a:xfrm>
          <a:prstGeom prst="rect">
            <a:avLst/>
          </a:prstGeom>
          <a:noFill/>
          <a:ln/>
        </p:spPr>
        <p:txBody>
          <a:bodyPr wrap="none" lIns="0" tIns="0" rIns="0" bIns="0" rtlCol="0" anchor="t"/>
          <a:lstStyle/>
          <a:p>
            <a:pPr marL="0" indent="0" algn="l">
              <a:lnSpc>
                <a:spcPts val="2300"/>
              </a:lnSpc>
              <a:buNone/>
            </a:pPr>
            <a:r>
              <a:rPr lang="en-US" dirty="0">
                <a:solidFill>
                  <a:srgbClr val="BFBFBF"/>
                </a:solidFill>
                <a:latin typeface="Open Sans"/>
                <a:ea typeface="Open Sans"/>
                <a:cs typeface="Open Sans"/>
              </a:rPr>
              <a:t>Les capacités principales de gestion de films et d'importation.</a:t>
            </a:r>
            <a:endParaRPr lang="en-US">
              <a:latin typeface="Open Sans"/>
              <a:ea typeface="Open Sans"/>
              <a:cs typeface="Open Sans"/>
            </a:endParaRPr>
          </a:p>
        </p:txBody>
      </p:sp>
      <p:sp>
        <p:nvSpPr>
          <p:cNvPr id="19" name="Shape 17"/>
          <p:cNvSpPr/>
          <p:nvPr/>
        </p:nvSpPr>
        <p:spPr>
          <a:xfrm>
            <a:off x="638413" y="5630823"/>
            <a:ext cx="592812" cy="912971"/>
          </a:xfrm>
          <a:prstGeom prst="roundRect">
            <a:avLst>
              <a:gd name="adj" fmla="val 360008"/>
            </a:avLst>
          </a:prstGeom>
          <a:solidFill>
            <a:srgbClr val="3E3E3E"/>
          </a:solidFill>
          <a:ln/>
        </p:spPr>
      </p:sp>
      <p:sp>
        <p:nvSpPr>
          <p:cNvPr id="20" name="Text 18"/>
          <p:cNvSpPr/>
          <p:nvPr/>
        </p:nvSpPr>
        <p:spPr>
          <a:xfrm>
            <a:off x="823674" y="5948363"/>
            <a:ext cx="222290" cy="277773"/>
          </a:xfrm>
          <a:prstGeom prst="rect">
            <a:avLst/>
          </a:prstGeom>
          <a:noFill/>
          <a:ln/>
        </p:spPr>
        <p:txBody>
          <a:bodyPr wrap="none" lIns="0" tIns="0" rIns="0" bIns="0" rtlCol="0" anchor="t"/>
          <a:lstStyle/>
          <a:p>
            <a:pPr marL="0" indent="0" algn="l">
              <a:lnSpc>
                <a:spcPts val="1750"/>
              </a:lnSpc>
              <a:buNone/>
            </a:pPr>
            <a:r>
              <a:rPr lang="en-US" dirty="0">
                <a:solidFill>
                  <a:srgbClr val="BFBFBF"/>
                </a:solidFill>
                <a:latin typeface="Instrument Sans Medium" pitchFamily="34" charset="0"/>
                <a:ea typeface="Instrument Sans Medium" pitchFamily="34" charset="-122"/>
                <a:cs typeface="Instrument Sans Medium" pitchFamily="34" charset="-120"/>
              </a:rPr>
              <a:t>5</a:t>
            </a:r>
            <a:endParaRPr lang="en-US" dirty="0"/>
          </a:p>
        </p:txBody>
      </p:sp>
      <p:sp>
        <p:nvSpPr>
          <p:cNvPr id="21" name="Text 19"/>
          <p:cNvSpPr/>
          <p:nvPr/>
        </p:nvSpPr>
        <p:spPr>
          <a:xfrm>
            <a:off x="1330354" y="5680966"/>
            <a:ext cx="3239672" cy="296891"/>
          </a:xfrm>
          <a:prstGeom prst="rect">
            <a:avLst/>
          </a:prstGeom>
          <a:noFill/>
          <a:ln/>
        </p:spPr>
        <p:txBody>
          <a:bodyPr wrap="none" lIns="0" tIns="0" rIns="0" bIns="0" rtlCol="0" anchor="t"/>
          <a:lstStyle/>
          <a:p>
            <a:pPr marL="0" indent="0" algn="l">
              <a:lnSpc>
                <a:spcPts val="1800"/>
              </a:lnSpc>
              <a:buNone/>
            </a:pPr>
            <a:r>
              <a:rPr lang="en-US" b="1" dirty="0">
                <a:solidFill>
                  <a:srgbClr val="BFBFBF"/>
                </a:solidFill>
                <a:latin typeface="Instrument Sans Medium"/>
                <a:ea typeface="Instrument Sans Medium" pitchFamily="34" charset="-122"/>
                <a:cs typeface="Instrument Sans Medium" pitchFamily="34" charset="-120"/>
              </a:rPr>
              <a:t>Dashboard en Temps Réel</a:t>
            </a:r>
            <a:endParaRPr lang="en-US" b="1">
              <a:latin typeface="Instrument Sans Medium"/>
              <a:ea typeface="Calibri"/>
              <a:cs typeface="Calibri"/>
            </a:endParaRPr>
          </a:p>
        </p:txBody>
      </p:sp>
      <p:sp>
        <p:nvSpPr>
          <p:cNvPr id="22" name="Text 20"/>
          <p:cNvSpPr/>
          <p:nvPr/>
        </p:nvSpPr>
        <p:spPr>
          <a:xfrm>
            <a:off x="1379339" y="6099334"/>
            <a:ext cx="12612648" cy="296347"/>
          </a:xfrm>
          <a:prstGeom prst="rect">
            <a:avLst/>
          </a:prstGeom>
          <a:noFill/>
          <a:ln/>
        </p:spPr>
        <p:txBody>
          <a:bodyPr wrap="none" lIns="0" tIns="0" rIns="0" bIns="0" rtlCol="0" anchor="t"/>
          <a:lstStyle/>
          <a:p>
            <a:pPr marL="0" indent="0" algn="l">
              <a:lnSpc>
                <a:spcPts val="2300"/>
              </a:lnSpc>
              <a:buNone/>
            </a:pPr>
            <a:r>
              <a:rPr lang="en-US" dirty="0">
                <a:solidFill>
                  <a:srgbClr val="BFBFBF"/>
                </a:solidFill>
                <a:latin typeface="Open Sans"/>
                <a:ea typeface="Open Sans"/>
                <a:cs typeface="Open Sans"/>
              </a:rPr>
              <a:t>Aperçu des statistiques dynamiques et des graphiques.</a:t>
            </a:r>
            <a:endParaRPr lang="en-US">
              <a:latin typeface="Open Sans"/>
              <a:ea typeface="Open Sans"/>
              <a:cs typeface="Open Sans"/>
            </a:endParaRPr>
          </a:p>
        </p:txBody>
      </p:sp>
      <p:sp>
        <p:nvSpPr>
          <p:cNvPr id="23" name="Shape 21"/>
          <p:cNvSpPr/>
          <p:nvPr/>
        </p:nvSpPr>
        <p:spPr>
          <a:xfrm>
            <a:off x="638413" y="6691908"/>
            <a:ext cx="592812" cy="912971"/>
          </a:xfrm>
          <a:prstGeom prst="roundRect">
            <a:avLst>
              <a:gd name="adj" fmla="val 360008"/>
            </a:avLst>
          </a:prstGeom>
          <a:solidFill>
            <a:srgbClr val="3E3E3E"/>
          </a:solidFill>
          <a:ln/>
        </p:spPr>
      </p:sp>
      <p:sp>
        <p:nvSpPr>
          <p:cNvPr id="24" name="Text 22"/>
          <p:cNvSpPr/>
          <p:nvPr/>
        </p:nvSpPr>
        <p:spPr>
          <a:xfrm>
            <a:off x="823674" y="7009448"/>
            <a:ext cx="222290" cy="277773"/>
          </a:xfrm>
          <a:prstGeom prst="rect">
            <a:avLst/>
          </a:prstGeom>
          <a:noFill/>
          <a:ln/>
        </p:spPr>
        <p:txBody>
          <a:bodyPr wrap="none" lIns="0" tIns="0" rIns="0" bIns="0" rtlCol="0" anchor="t"/>
          <a:lstStyle/>
          <a:p>
            <a:pPr marL="0" indent="0" algn="l">
              <a:lnSpc>
                <a:spcPts val="1750"/>
              </a:lnSpc>
              <a:buNone/>
            </a:pPr>
            <a:r>
              <a:rPr lang="en-US" dirty="0">
                <a:solidFill>
                  <a:srgbClr val="BFBFBF"/>
                </a:solidFill>
                <a:latin typeface="Instrument Sans Medium" pitchFamily="34" charset="0"/>
                <a:ea typeface="Instrument Sans Medium" pitchFamily="34" charset="-122"/>
                <a:cs typeface="Instrument Sans Medium" pitchFamily="34" charset="-120"/>
              </a:rPr>
              <a:t>6</a:t>
            </a:r>
            <a:endParaRPr lang="en-US" dirty="0"/>
          </a:p>
        </p:txBody>
      </p:sp>
      <p:sp>
        <p:nvSpPr>
          <p:cNvPr id="25" name="Text 23"/>
          <p:cNvSpPr/>
          <p:nvPr/>
        </p:nvSpPr>
        <p:spPr>
          <a:xfrm>
            <a:off x="1373708" y="6789910"/>
            <a:ext cx="1852493" cy="231577"/>
          </a:xfrm>
          <a:prstGeom prst="rect">
            <a:avLst/>
          </a:prstGeom>
          <a:noFill/>
          <a:ln/>
        </p:spPr>
        <p:txBody>
          <a:bodyPr wrap="none" lIns="0" tIns="0" rIns="0" bIns="0" rtlCol="0" anchor="t"/>
          <a:lstStyle/>
          <a:p>
            <a:pPr marL="0" indent="0" algn="l">
              <a:lnSpc>
                <a:spcPts val="1800"/>
              </a:lnSpc>
              <a:buNone/>
            </a:pPr>
            <a:r>
              <a:rPr lang="en-US" b="1" dirty="0">
                <a:solidFill>
                  <a:srgbClr val="BFBFBF"/>
                </a:solidFill>
                <a:latin typeface="Instrument Sans Medium"/>
                <a:ea typeface="Instrument Sans Medium" pitchFamily="34" charset="-122"/>
                <a:cs typeface="Instrument Sans Medium" pitchFamily="34" charset="-120"/>
              </a:rPr>
              <a:t>Résultats &amp; Bilan</a:t>
            </a:r>
            <a:endParaRPr lang="en-US" b="1">
              <a:latin typeface="Instrument Sans Medium"/>
              <a:ea typeface="Calibri"/>
              <a:cs typeface="Calibri"/>
            </a:endParaRPr>
          </a:p>
        </p:txBody>
      </p:sp>
      <p:sp>
        <p:nvSpPr>
          <p:cNvPr id="26" name="Text 24"/>
          <p:cNvSpPr/>
          <p:nvPr/>
        </p:nvSpPr>
        <p:spPr>
          <a:xfrm>
            <a:off x="1373709" y="7128324"/>
            <a:ext cx="12612648" cy="296347"/>
          </a:xfrm>
          <a:prstGeom prst="rect">
            <a:avLst/>
          </a:prstGeom>
          <a:noFill/>
          <a:ln/>
        </p:spPr>
        <p:txBody>
          <a:bodyPr wrap="none" lIns="0" tIns="0" rIns="0" bIns="0" rtlCol="0" anchor="t"/>
          <a:lstStyle/>
          <a:p>
            <a:pPr marL="0" indent="0" algn="l">
              <a:lnSpc>
                <a:spcPts val="2300"/>
              </a:lnSpc>
              <a:buNone/>
            </a:pPr>
            <a:r>
              <a:rPr lang="en-US" dirty="0">
                <a:solidFill>
                  <a:srgbClr val="BFBFBF"/>
                </a:solidFill>
                <a:latin typeface="Open Sans"/>
                <a:ea typeface="Open Sans"/>
                <a:cs typeface="Open Sans"/>
              </a:rPr>
              <a:t>Performance du projet et compétences acquises.</a:t>
            </a:r>
            <a:endParaRPr lang="en-US">
              <a:latin typeface="Calibri"/>
              <a:ea typeface="Calibri"/>
              <a:cs typeface="Calibri"/>
            </a:endParaRPr>
          </a:p>
        </p:txBody>
      </p:sp>
      <p:sp>
        <p:nvSpPr>
          <p:cNvPr id="27" name="Rectangle 26">
            <a:extLst>
              <a:ext uri="{FF2B5EF4-FFF2-40B4-BE49-F238E27FC236}">
                <a16:creationId xmlns:a16="http://schemas.microsoft.com/office/drawing/2014/main" id="{7DAB8D78-0CC4-01D4-251B-8D38895804B3}"/>
              </a:ext>
            </a:extLst>
          </p:cNvPr>
          <p:cNvSpPr/>
          <p:nvPr/>
        </p:nvSpPr>
        <p:spPr>
          <a:xfrm>
            <a:off x="12200258" y="7603985"/>
            <a:ext cx="2435396" cy="601340"/>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32" name="Text 3">
            <a:extLst>
              <a:ext uri="{FF2B5EF4-FFF2-40B4-BE49-F238E27FC236}">
                <a16:creationId xmlns:a16="http://schemas.microsoft.com/office/drawing/2014/main" id="{41435C77-051B-F022-72F0-6F58BADCED4C}"/>
              </a:ext>
            </a:extLst>
          </p:cNvPr>
          <p:cNvSpPr/>
          <p:nvPr/>
        </p:nvSpPr>
        <p:spPr>
          <a:xfrm>
            <a:off x="8531254" y="1110055"/>
            <a:ext cx="2815878" cy="590804"/>
          </a:xfrm>
          <a:prstGeom prst="rect">
            <a:avLst/>
          </a:prstGeom>
          <a:noFill/>
          <a:ln/>
        </p:spPr>
        <p:txBody>
          <a:bodyPr wrap="none" lIns="0" tIns="0" rIns="0" bIns="0" rtlCol="0" anchor="t"/>
          <a:lstStyle/>
          <a:p>
            <a:pPr marL="0" indent="0" algn="l">
              <a:lnSpc>
                <a:spcPts val="1800"/>
              </a:lnSpc>
              <a:buNone/>
            </a:pPr>
            <a:endParaRPr lang="en-US" dirty="0">
              <a:solidFill>
                <a:srgbClr val="BFBFBF"/>
              </a:solidFill>
              <a:latin typeface="Instrument Sa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19488"/>
            <a:ext cx="4607362" cy="575905"/>
          </a:xfrm>
          <a:prstGeom prst="rect">
            <a:avLst/>
          </a:prstGeom>
          <a:noFill/>
          <a:ln/>
        </p:spPr>
        <p:txBody>
          <a:bodyPr wrap="none" lIns="0" tIns="0" rIns="0" bIns="0" rtlCol="0" anchor="t"/>
          <a:lstStyle/>
          <a:p>
            <a:pPr marL="0" indent="0" algn="l">
              <a:lnSpc>
                <a:spcPts val="4500"/>
              </a:lnSpc>
              <a:buNone/>
            </a:pPr>
            <a:r>
              <a:rPr lang="en-US" sz="3600" dirty="0">
                <a:solidFill>
                  <a:srgbClr val="FEFEFE"/>
                </a:solidFill>
                <a:latin typeface="Instrument Sans Medium" pitchFamily="34" charset="0"/>
                <a:ea typeface="Instrument Sans Medium" pitchFamily="34" charset="-122"/>
                <a:cs typeface="Instrument Sans Medium" pitchFamily="34" charset="-120"/>
              </a:rPr>
              <a:t>Contexte &amp; Objectifs</a:t>
            </a:r>
            <a:endParaRPr lang="en-US" sz="3600" dirty="0"/>
          </a:p>
        </p:txBody>
      </p:sp>
      <p:sp>
        <p:nvSpPr>
          <p:cNvPr id="3" name="Text 1"/>
          <p:cNvSpPr/>
          <p:nvPr/>
        </p:nvSpPr>
        <p:spPr>
          <a:xfrm>
            <a:off x="793790" y="2269093"/>
            <a:ext cx="2303621" cy="287893"/>
          </a:xfrm>
          <a:prstGeom prst="rect">
            <a:avLst/>
          </a:prstGeom>
          <a:noFill/>
          <a:ln/>
        </p:spPr>
        <p:txBody>
          <a:bodyPr wrap="none" lIns="0" tIns="0" rIns="0" bIns="0" rtlCol="0" anchor="t"/>
          <a:lstStyle/>
          <a:p>
            <a:pPr marL="0" indent="0" algn="l">
              <a:lnSpc>
                <a:spcPts val="2250"/>
              </a:lnSpc>
              <a:buNone/>
            </a:pPr>
            <a:r>
              <a:rPr lang="en-US" sz="1800" dirty="0">
                <a:solidFill>
                  <a:srgbClr val="000000"/>
                </a:solidFill>
                <a:latin typeface="Instrument Sans Medium" pitchFamily="34" charset="0"/>
                <a:ea typeface="Instrument Sans Medium" pitchFamily="34" charset="-122"/>
                <a:cs typeface="Instrument Sans Medium" pitchFamily="34" charset="-120"/>
              </a:rPr>
              <a:t>🎯</a:t>
            </a:r>
            <a:r>
              <a:rPr lang="en-US" sz="1800" dirty="0">
                <a:solidFill>
                  <a:srgbClr val="FEFEFE"/>
                </a:solidFill>
                <a:latin typeface="Instrument Sans Medium" pitchFamily="34" charset="0"/>
                <a:ea typeface="Instrument Sans Medium" pitchFamily="34" charset="-122"/>
                <a:cs typeface="Instrument Sans Medium" pitchFamily="34" charset="-120"/>
              </a:rPr>
              <a:t> Le Défi</a:t>
            </a:r>
            <a:endParaRPr lang="en-US" sz="1800" dirty="0"/>
          </a:p>
        </p:txBody>
      </p:sp>
      <p:sp>
        <p:nvSpPr>
          <p:cNvPr id="4" name="Shape 2"/>
          <p:cNvSpPr/>
          <p:nvPr/>
        </p:nvSpPr>
        <p:spPr>
          <a:xfrm>
            <a:off x="793790" y="2833330"/>
            <a:ext cx="4224814" cy="2832140"/>
          </a:xfrm>
          <a:prstGeom prst="roundRect">
            <a:avLst>
              <a:gd name="adj" fmla="val 3874"/>
            </a:avLst>
          </a:prstGeom>
          <a:solidFill>
            <a:srgbClr val="1F1F1F"/>
          </a:solidFill>
          <a:ln w="22860">
            <a:solidFill>
              <a:srgbClr val="575757"/>
            </a:solidFill>
            <a:prstDash val="solid"/>
          </a:ln>
        </p:spPr>
      </p:sp>
      <p:sp>
        <p:nvSpPr>
          <p:cNvPr id="5" name="Shape 3"/>
          <p:cNvSpPr/>
          <p:nvPr/>
        </p:nvSpPr>
        <p:spPr>
          <a:xfrm>
            <a:off x="770930" y="2833330"/>
            <a:ext cx="91440" cy="2832140"/>
          </a:xfrm>
          <a:prstGeom prst="roundRect">
            <a:avLst>
              <a:gd name="adj" fmla="val 30233"/>
            </a:avLst>
          </a:prstGeom>
          <a:solidFill>
            <a:srgbClr val="F5F547"/>
          </a:solidFill>
          <a:ln/>
        </p:spPr>
      </p:sp>
      <p:sp>
        <p:nvSpPr>
          <p:cNvPr id="6" name="Text 4"/>
          <p:cNvSpPr/>
          <p:nvPr/>
        </p:nvSpPr>
        <p:spPr>
          <a:xfrm>
            <a:off x="1069419" y="3040380"/>
            <a:ext cx="2764393" cy="345519"/>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La Mission</a:t>
            </a:r>
            <a:endParaRPr lang="en-US" sz="2150" dirty="0"/>
          </a:p>
        </p:txBody>
      </p:sp>
      <p:sp>
        <p:nvSpPr>
          <p:cNvPr id="7" name="Text 5"/>
          <p:cNvSpPr/>
          <p:nvPr/>
        </p:nvSpPr>
        <p:spPr>
          <a:xfrm>
            <a:off x="1069419" y="3496389"/>
            <a:ext cx="3742134" cy="589598"/>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Développer une application web complète.</a:t>
            </a:r>
            <a:endParaRPr lang="en-US" sz="1450" dirty="0">
              <a:latin typeface="Calibri" panose="020F0502020204030204"/>
              <a:ea typeface="Calibri" panose="020F0502020204030204"/>
              <a:cs typeface="Calibri" panose="020F0502020204030204"/>
            </a:endParaRPr>
          </a:p>
        </p:txBody>
      </p:sp>
      <p:sp>
        <p:nvSpPr>
          <p:cNvPr id="8" name="Text 6"/>
          <p:cNvSpPr/>
          <p:nvPr/>
        </p:nvSpPr>
        <p:spPr>
          <a:xfrm>
            <a:off x="1069419" y="4150400"/>
            <a:ext cx="3742134" cy="294799"/>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Gérer films et réalisateurs.</a:t>
            </a:r>
            <a:endParaRPr lang="en-US" sz="1600" dirty="0">
              <a:latin typeface="Open Sans"/>
              <a:ea typeface="Open Sans"/>
              <a:cs typeface="Open Sans"/>
            </a:endParaRPr>
          </a:p>
        </p:txBody>
      </p:sp>
      <p:sp>
        <p:nvSpPr>
          <p:cNvPr id="9" name="Text 7"/>
          <p:cNvSpPr/>
          <p:nvPr/>
        </p:nvSpPr>
        <p:spPr>
          <a:xfrm>
            <a:off x="1069419" y="4509611"/>
            <a:ext cx="3742134" cy="589598"/>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Interface professionnelle type Backoffice.</a:t>
            </a:r>
            <a:endParaRPr lang="en-US" sz="1600" dirty="0">
              <a:latin typeface="Open Sans"/>
              <a:ea typeface="Open Sans"/>
              <a:cs typeface="Open Sans"/>
            </a:endParaRPr>
          </a:p>
        </p:txBody>
      </p:sp>
      <p:sp>
        <p:nvSpPr>
          <p:cNvPr id="10" name="Shape 8"/>
          <p:cNvSpPr/>
          <p:nvPr/>
        </p:nvSpPr>
        <p:spPr>
          <a:xfrm>
            <a:off x="5202793" y="2833330"/>
            <a:ext cx="4224814" cy="2832140"/>
          </a:xfrm>
          <a:prstGeom prst="roundRect">
            <a:avLst>
              <a:gd name="adj" fmla="val 3874"/>
            </a:avLst>
          </a:prstGeom>
          <a:solidFill>
            <a:srgbClr val="1F1F1F"/>
          </a:solidFill>
          <a:ln w="22860">
            <a:solidFill>
              <a:srgbClr val="575757"/>
            </a:solidFill>
            <a:prstDash val="solid"/>
          </a:ln>
        </p:spPr>
      </p:sp>
      <p:sp>
        <p:nvSpPr>
          <p:cNvPr id="11" name="Shape 9"/>
          <p:cNvSpPr/>
          <p:nvPr/>
        </p:nvSpPr>
        <p:spPr>
          <a:xfrm>
            <a:off x="5179933" y="2833330"/>
            <a:ext cx="91440" cy="2832140"/>
          </a:xfrm>
          <a:prstGeom prst="roundRect">
            <a:avLst>
              <a:gd name="adj" fmla="val 30233"/>
            </a:avLst>
          </a:prstGeom>
          <a:solidFill>
            <a:srgbClr val="F5F547"/>
          </a:solidFill>
          <a:ln/>
        </p:spPr>
      </p:sp>
      <p:sp>
        <p:nvSpPr>
          <p:cNvPr id="12" name="Text 10"/>
          <p:cNvSpPr/>
          <p:nvPr/>
        </p:nvSpPr>
        <p:spPr>
          <a:xfrm>
            <a:off x="5478423" y="3040380"/>
            <a:ext cx="2764393" cy="345519"/>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Les Objectifs </a:t>
            </a:r>
            <a:r>
              <a:rPr lang="en-US" sz="2150" dirty="0">
                <a:solidFill>
                  <a:srgbClr val="000000"/>
                </a:solidFill>
                <a:latin typeface="Instrument Sans Medium" pitchFamily="34" charset="0"/>
                <a:ea typeface="Instrument Sans Medium" pitchFamily="34" charset="-122"/>
                <a:cs typeface="Instrument Sans Medium" pitchFamily="34" charset="-120"/>
              </a:rPr>
              <a:t>✅</a:t>
            </a:r>
            <a:endParaRPr lang="en-US" sz="2150" dirty="0"/>
          </a:p>
        </p:txBody>
      </p:sp>
      <p:sp>
        <p:nvSpPr>
          <p:cNvPr id="13" name="Text 11"/>
          <p:cNvSpPr/>
          <p:nvPr/>
        </p:nvSpPr>
        <p:spPr>
          <a:xfrm>
            <a:off x="5478423" y="3496389"/>
            <a:ext cx="3742134" cy="589598"/>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CRUD complet (Create, Read, Update, Delete).</a:t>
            </a:r>
            <a:endParaRPr lang="en-US" sz="1600" dirty="0">
              <a:latin typeface="Open Sans"/>
              <a:ea typeface="Open Sans"/>
              <a:cs typeface="Open Sans"/>
            </a:endParaRPr>
          </a:p>
        </p:txBody>
      </p:sp>
      <p:sp>
        <p:nvSpPr>
          <p:cNvPr id="14" name="Text 12"/>
          <p:cNvSpPr/>
          <p:nvPr/>
        </p:nvSpPr>
        <p:spPr>
          <a:xfrm>
            <a:off x="5478423" y="4150400"/>
            <a:ext cx="3742134" cy="589598"/>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Statistiques dynamiques avec graphiques.</a:t>
            </a:r>
            <a:endParaRPr lang="en-US" sz="1600" dirty="0">
              <a:latin typeface="Open Sans"/>
              <a:ea typeface="Open Sans"/>
              <a:cs typeface="Open Sans"/>
            </a:endParaRPr>
          </a:p>
        </p:txBody>
      </p:sp>
      <p:sp>
        <p:nvSpPr>
          <p:cNvPr id="15" name="Text 13"/>
          <p:cNvSpPr/>
          <p:nvPr/>
        </p:nvSpPr>
        <p:spPr>
          <a:xfrm>
            <a:off x="5478423" y="4804410"/>
            <a:ext cx="3742134" cy="294799"/>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Intégration API externe (OMDB).</a:t>
            </a:r>
            <a:endParaRPr lang="en-US" sz="1450" dirty="0">
              <a:latin typeface="Calibri" panose="020F0502020204030204"/>
              <a:ea typeface="Calibri" panose="020F0502020204030204"/>
              <a:cs typeface="Calibri" panose="020F0502020204030204"/>
            </a:endParaRPr>
          </a:p>
        </p:txBody>
      </p:sp>
      <p:sp>
        <p:nvSpPr>
          <p:cNvPr id="16" name="Text 14"/>
          <p:cNvSpPr/>
          <p:nvPr/>
        </p:nvSpPr>
        <p:spPr>
          <a:xfrm>
            <a:off x="5478423" y="5163622"/>
            <a:ext cx="3742134" cy="294799"/>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Design moderne et responsive.</a:t>
            </a:r>
            <a:endParaRPr lang="en-US" sz="1600" dirty="0">
              <a:latin typeface="Open Sans"/>
              <a:ea typeface="Open Sans"/>
              <a:cs typeface="Open Sans"/>
            </a:endParaRPr>
          </a:p>
        </p:txBody>
      </p:sp>
      <p:sp>
        <p:nvSpPr>
          <p:cNvPr id="17" name="Shape 15"/>
          <p:cNvSpPr/>
          <p:nvPr/>
        </p:nvSpPr>
        <p:spPr>
          <a:xfrm>
            <a:off x="9611797" y="2833330"/>
            <a:ext cx="4224814" cy="2832140"/>
          </a:xfrm>
          <a:prstGeom prst="roundRect">
            <a:avLst>
              <a:gd name="adj" fmla="val 3874"/>
            </a:avLst>
          </a:prstGeom>
          <a:solidFill>
            <a:srgbClr val="1F1F1F"/>
          </a:solidFill>
          <a:ln w="22860">
            <a:solidFill>
              <a:srgbClr val="575757"/>
            </a:solidFill>
            <a:prstDash val="solid"/>
          </a:ln>
        </p:spPr>
      </p:sp>
      <p:sp>
        <p:nvSpPr>
          <p:cNvPr id="18" name="Shape 16"/>
          <p:cNvSpPr/>
          <p:nvPr/>
        </p:nvSpPr>
        <p:spPr>
          <a:xfrm>
            <a:off x="9588937" y="2833330"/>
            <a:ext cx="91440" cy="2832140"/>
          </a:xfrm>
          <a:prstGeom prst="roundRect">
            <a:avLst>
              <a:gd name="adj" fmla="val 30233"/>
            </a:avLst>
          </a:prstGeom>
          <a:solidFill>
            <a:srgbClr val="F5F547"/>
          </a:solidFill>
          <a:ln/>
        </p:spPr>
      </p:sp>
      <p:sp>
        <p:nvSpPr>
          <p:cNvPr id="19" name="Text 17"/>
          <p:cNvSpPr/>
          <p:nvPr/>
        </p:nvSpPr>
        <p:spPr>
          <a:xfrm>
            <a:off x="9887426" y="3040380"/>
            <a:ext cx="2764393" cy="345519"/>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Contraintes </a:t>
            </a:r>
            <a:r>
              <a:rPr lang="en-US" sz="2150" dirty="0">
                <a:solidFill>
                  <a:srgbClr val="000000"/>
                </a:solidFill>
                <a:latin typeface="Instrument Sans Medium" pitchFamily="34" charset="0"/>
                <a:ea typeface="Instrument Sans Medium" pitchFamily="34" charset="-122"/>
                <a:cs typeface="Instrument Sans Medium" pitchFamily="34" charset="-120"/>
              </a:rPr>
              <a:t>⚠️</a:t>
            </a:r>
            <a:endParaRPr lang="en-US" sz="2150" dirty="0"/>
          </a:p>
        </p:txBody>
      </p:sp>
      <p:sp>
        <p:nvSpPr>
          <p:cNvPr id="20" name="Text 18"/>
          <p:cNvSpPr/>
          <p:nvPr/>
        </p:nvSpPr>
        <p:spPr>
          <a:xfrm>
            <a:off x="9887426" y="3496389"/>
            <a:ext cx="3742134" cy="589598"/>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100% JavaScript Vanilla (sans frameworks).</a:t>
            </a:r>
            <a:endParaRPr lang="en-US" sz="1600">
              <a:latin typeface="Open Sans"/>
              <a:ea typeface="Open Sans"/>
              <a:cs typeface="Open Sans"/>
            </a:endParaRPr>
          </a:p>
        </p:txBody>
      </p:sp>
      <p:sp>
        <p:nvSpPr>
          <p:cNvPr id="21" name="Text 19"/>
          <p:cNvSpPr/>
          <p:nvPr/>
        </p:nvSpPr>
        <p:spPr>
          <a:xfrm>
            <a:off x="9887426" y="4150400"/>
            <a:ext cx="3742134" cy="589598"/>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Architecture SPA (Single Page Application).</a:t>
            </a:r>
            <a:endParaRPr lang="en-US" sz="1600">
              <a:latin typeface="Open Sans"/>
              <a:ea typeface="Open Sans"/>
              <a:cs typeface="Open Sans"/>
            </a:endParaRPr>
          </a:p>
        </p:txBody>
      </p:sp>
      <p:sp>
        <p:nvSpPr>
          <p:cNvPr id="22" name="Text 20"/>
          <p:cNvSpPr/>
          <p:nvPr/>
        </p:nvSpPr>
        <p:spPr>
          <a:xfrm>
            <a:off x="9887426" y="4804410"/>
            <a:ext cx="3742134" cy="294799"/>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Persistance via LocalStorage.</a:t>
            </a:r>
            <a:endParaRPr lang="en-US" sz="1600">
              <a:latin typeface="Open Sans"/>
              <a:ea typeface="Open Sans"/>
              <a:cs typeface="Open Sans"/>
            </a:endParaRPr>
          </a:p>
        </p:txBody>
      </p:sp>
      <p:sp>
        <p:nvSpPr>
          <p:cNvPr id="23" name="Text 21"/>
          <p:cNvSpPr/>
          <p:nvPr/>
        </p:nvSpPr>
        <p:spPr>
          <a:xfrm>
            <a:off x="793790" y="5872758"/>
            <a:ext cx="13042821" cy="737235"/>
          </a:xfrm>
          <a:prstGeom prst="rect">
            <a:avLst/>
          </a:prstGeom>
          <a:noFill/>
          <a:ln/>
        </p:spPr>
        <p:txBody>
          <a:bodyPr wrap="square" lIns="0" tIns="0" rIns="0" bIns="0" rtlCol="0" anchor="t"/>
          <a:lstStyle/>
          <a:p>
            <a:pPr marL="0" indent="0" algn="l">
              <a:lnSpc>
                <a:spcPts val="2900"/>
              </a:lnSpc>
              <a:buNone/>
            </a:pPr>
            <a:r>
              <a:rPr lang="en-US" sz="1800" dirty="0">
                <a:solidFill>
                  <a:srgbClr val="BFBFBF"/>
                </a:solidFill>
                <a:latin typeface="Open Sans" pitchFamily="34" charset="0"/>
                <a:ea typeface="Open Sans" pitchFamily="34" charset="-122"/>
                <a:cs typeface="Open Sans" pitchFamily="34" charset="-120"/>
              </a:rPr>
              <a:t>CineTech a été conçu pour répondre au besoin d'un outil de gestion centralisé et intuitif pour les films et les réalisateurs, tout en respectant des exigences techniques strictes pour un projet universitaire.</a:t>
            </a:r>
            <a:endParaRPr lang="en-US" sz="1800" dirty="0"/>
          </a:p>
        </p:txBody>
      </p:sp>
      <p:sp>
        <p:nvSpPr>
          <p:cNvPr id="25" name="Rectangle 24">
            <a:extLst>
              <a:ext uri="{FF2B5EF4-FFF2-40B4-BE49-F238E27FC236}">
                <a16:creationId xmlns:a16="http://schemas.microsoft.com/office/drawing/2014/main" id="{3E60A9E0-DEB6-61B3-E9C8-610A8C7C6DE3}"/>
              </a:ext>
            </a:extLst>
          </p:cNvPr>
          <p:cNvSpPr/>
          <p:nvPr/>
        </p:nvSpPr>
        <p:spPr>
          <a:xfrm>
            <a:off x="12830878" y="7714343"/>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53158"/>
            <a:ext cx="4795957" cy="575905"/>
          </a:xfrm>
          <a:prstGeom prst="rect">
            <a:avLst/>
          </a:prstGeom>
          <a:noFill/>
          <a:ln/>
        </p:spPr>
        <p:txBody>
          <a:bodyPr wrap="none" lIns="0" tIns="0" rIns="0" bIns="0" rtlCol="0" anchor="t"/>
          <a:lstStyle/>
          <a:p>
            <a:pPr marL="0" indent="0" algn="l">
              <a:lnSpc>
                <a:spcPts val="4500"/>
              </a:lnSpc>
              <a:buNone/>
            </a:pPr>
            <a:r>
              <a:rPr lang="en-US" sz="3600" dirty="0">
                <a:solidFill>
                  <a:srgbClr val="FEFEFE"/>
                </a:solidFill>
                <a:latin typeface="Instrument Sans Medium" pitchFamily="34" charset="0"/>
                <a:ea typeface="Instrument Sans Medium" pitchFamily="34" charset="-122"/>
                <a:cs typeface="Instrument Sans Medium" pitchFamily="34" charset="-120"/>
              </a:rPr>
              <a:t>Architecture CineTech</a:t>
            </a:r>
            <a:endParaRPr lang="en-US" sz="3600" dirty="0"/>
          </a:p>
        </p:txBody>
      </p:sp>
      <p:sp>
        <p:nvSpPr>
          <p:cNvPr id="3" name="Text 1"/>
          <p:cNvSpPr/>
          <p:nvPr/>
        </p:nvSpPr>
        <p:spPr>
          <a:xfrm>
            <a:off x="793790" y="2102763"/>
            <a:ext cx="2980730" cy="345519"/>
          </a:xfrm>
          <a:prstGeom prst="rect">
            <a:avLst/>
          </a:prstGeom>
          <a:noFill/>
          <a:ln/>
        </p:spPr>
        <p:txBody>
          <a:bodyPr wrap="none" lIns="0" tIns="0" rIns="0" bIns="0" rtlCol="0" anchor="t"/>
          <a:lstStyle/>
          <a:p>
            <a:pPr marL="0" indent="0" algn="l">
              <a:lnSpc>
                <a:spcPts val="2700"/>
              </a:lnSpc>
              <a:buNone/>
            </a:pPr>
            <a:r>
              <a:rPr lang="en-US" sz="2150" dirty="0">
                <a:solidFill>
                  <a:srgbClr val="FEFEFE"/>
                </a:solidFill>
                <a:latin typeface="Instrument Sans Medium" pitchFamily="34" charset="0"/>
                <a:ea typeface="Instrument Sans Medium" pitchFamily="34" charset="-122"/>
                <a:cs typeface="Instrument Sans Medium" pitchFamily="34" charset="-120"/>
              </a:rPr>
              <a:t>Structure en 3 Modules</a:t>
            </a:r>
            <a:endParaRPr lang="en-US" sz="2150" dirty="0"/>
          </a:p>
        </p:txBody>
      </p:sp>
      <p:pic>
        <p:nvPicPr>
          <p:cNvPr id="4" name="Image 0" descr="preencoded.png"/>
          <p:cNvPicPr>
            <a:picLocks noChangeAspect="1"/>
          </p:cNvPicPr>
          <p:nvPr/>
        </p:nvPicPr>
        <p:blipFill>
          <a:blip r:embed="rId3"/>
          <a:stretch>
            <a:fillRect/>
          </a:stretch>
        </p:blipFill>
        <p:spPr>
          <a:xfrm>
            <a:off x="793790" y="2724626"/>
            <a:ext cx="4347567" cy="737116"/>
          </a:xfrm>
          <a:prstGeom prst="rect">
            <a:avLst/>
          </a:prstGeom>
        </p:spPr>
      </p:pic>
      <p:sp>
        <p:nvSpPr>
          <p:cNvPr id="5" name="Text 2"/>
          <p:cNvSpPr/>
          <p:nvPr/>
        </p:nvSpPr>
        <p:spPr>
          <a:xfrm>
            <a:off x="977979" y="3645932"/>
            <a:ext cx="2303621" cy="287893"/>
          </a:xfrm>
          <a:prstGeom prst="rect">
            <a:avLst/>
          </a:prstGeom>
          <a:noFill/>
          <a:ln/>
        </p:spPr>
        <p:txBody>
          <a:bodyPr wrap="none" lIns="0" tIns="0" rIns="0" bIns="0" rtlCol="0" anchor="t"/>
          <a:lstStyle/>
          <a:p>
            <a:pPr marL="0" indent="0" algn="l">
              <a:lnSpc>
                <a:spcPts val="2250"/>
              </a:lnSpc>
              <a:buNone/>
            </a:pPr>
            <a:r>
              <a:rPr lang="en-US" sz="1800" dirty="0">
                <a:solidFill>
                  <a:srgbClr val="BFBFBF"/>
                </a:solidFill>
                <a:latin typeface="Instrument Sans Medium" pitchFamily="34" charset="0"/>
                <a:ea typeface="Instrument Sans Medium" pitchFamily="34" charset="-122"/>
                <a:cs typeface="Instrument Sans Medium" pitchFamily="34" charset="-120"/>
              </a:rPr>
              <a:t>Module </a:t>
            </a:r>
            <a:r>
              <a:rPr lang="en-US" sz="1800" dirty="0">
                <a:solidFill>
                  <a:srgbClr val="000000"/>
                </a:solidFill>
                <a:latin typeface="Instrument Sans Medium" pitchFamily="34" charset="0"/>
                <a:ea typeface="Instrument Sans Medium" pitchFamily="34" charset="-122"/>
                <a:cs typeface="Instrument Sans Medium" pitchFamily="34" charset="-120"/>
              </a:rPr>
              <a:t>1️⃣</a:t>
            </a:r>
            <a:r>
              <a:rPr lang="en-US" sz="1800" dirty="0">
                <a:solidFill>
                  <a:srgbClr val="BFBFBF"/>
                </a:solidFill>
                <a:latin typeface="Instrument Sans Medium" pitchFamily="34" charset="0"/>
                <a:ea typeface="Instrument Sans Medium" pitchFamily="34" charset="-122"/>
                <a:cs typeface="Instrument Sans Medium" pitchFamily="34" charset="-120"/>
              </a:rPr>
              <a:t> - FILMS</a:t>
            </a:r>
            <a:endParaRPr lang="en-US" sz="1800" dirty="0"/>
          </a:p>
        </p:txBody>
      </p:sp>
      <p:sp>
        <p:nvSpPr>
          <p:cNvPr id="6" name="Text 3"/>
          <p:cNvSpPr/>
          <p:nvPr/>
        </p:nvSpPr>
        <p:spPr>
          <a:xfrm>
            <a:off x="977979" y="4044315"/>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CRUD complet.</a:t>
            </a:r>
            <a:endParaRPr lang="en-US" sz="1600">
              <a:latin typeface="Calibri"/>
              <a:ea typeface="Calibri"/>
              <a:cs typeface="Calibri"/>
            </a:endParaRPr>
          </a:p>
        </p:txBody>
      </p:sp>
      <p:sp>
        <p:nvSpPr>
          <p:cNvPr id="7" name="Text 4"/>
          <p:cNvSpPr/>
          <p:nvPr/>
        </p:nvSpPr>
        <p:spPr>
          <a:xfrm>
            <a:off x="977979" y="4477345"/>
            <a:ext cx="3979188" cy="737235"/>
          </a:xfrm>
          <a:prstGeom prst="rect">
            <a:avLst/>
          </a:prstGeom>
          <a:noFill/>
          <a:ln/>
        </p:spPr>
        <p:txBody>
          <a:bodyPr wrap="squar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Recherche &amp; filtrage en temps réel.</a:t>
            </a:r>
            <a:endParaRPr lang="en-US" sz="1600">
              <a:latin typeface="Open Sans"/>
              <a:ea typeface="Open Sans"/>
              <a:cs typeface="Open Sans"/>
            </a:endParaRPr>
          </a:p>
        </p:txBody>
      </p:sp>
      <p:sp>
        <p:nvSpPr>
          <p:cNvPr id="8" name="Text 5"/>
          <p:cNvSpPr/>
          <p:nvPr/>
        </p:nvSpPr>
        <p:spPr>
          <a:xfrm>
            <a:off x="977979" y="5278993"/>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8 champs de données.</a:t>
            </a:r>
            <a:endParaRPr lang="en-US" sz="1600">
              <a:latin typeface="Open Sans"/>
              <a:ea typeface="Open Sans"/>
              <a:cs typeface="Open Sans"/>
            </a:endParaRPr>
          </a:p>
        </p:txBody>
      </p:sp>
      <p:pic>
        <p:nvPicPr>
          <p:cNvPr id="9" name="Image 1" descr="preencoded.png"/>
          <p:cNvPicPr>
            <a:picLocks noChangeAspect="1"/>
          </p:cNvPicPr>
          <p:nvPr/>
        </p:nvPicPr>
        <p:blipFill>
          <a:blip r:embed="rId4"/>
          <a:stretch>
            <a:fillRect/>
          </a:stretch>
        </p:blipFill>
        <p:spPr>
          <a:xfrm>
            <a:off x="5141357" y="2724626"/>
            <a:ext cx="4347567" cy="737116"/>
          </a:xfrm>
          <a:prstGeom prst="rect">
            <a:avLst/>
          </a:prstGeom>
        </p:spPr>
      </p:pic>
      <p:sp>
        <p:nvSpPr>
          <p:cNvPr id="10" name="Text 6"/>
          <p:cNvSpPr/>
          <p:nvPr/>
        </p:nvSpPr>
        <p:spPr>
          <a:xfrm>
            <a:off x="5325547" y="3645932"/>
            <a:ext cx="3028950" cy="287893"/>
          </a:xfrm>
          <a:prstGeom prst="rect">
            <a:avLst/>
          </a:prstGeom>
          <a:noFill/>
          <a:ln/>
        </p:spPr>
        <p:txBody>
          <a:bodyPr wrap="none" lIns="0" tIns="0" rIns="0" bIns="0" rtlCol="0" anchor="t"/>
          <a:lstStyle/>
          <a:p>
            <a:pPr marL="0" indent="0" algn="l">
              <a:lnSpc>
                <a:spcPts val="2250"/>
              </a:lnSpc>
              <a:buNone/>
            </a:pPr>
            <a:r>
              <a:rPr lang="en-US" sz="1800" dirty="0">
                <a:solidFill>
                  <a:srgbClr val="BFBFBF"/>
                </a:solidFill>
                <a:latin typeface="Instrument Sans Medium" pitchFamily="34" charset="0"/>
                <a:ea typeface="Instrument Sans Medium" pitchFamily="34" charset="-122"/>
                <a:cs typeface="Instrument Sans Medium" pitchFamily="34" charset="-120"/>
              </a:rPr>
              <a:t>Module </a:t>
            </a:r>
            <a:r>
              <a:rPr lang="en-US" sz="1800" dirty="0">
                <a:solidFill>
                  <a:srgbClr val="000000"/>
                </a:solidFill>
                <a:latin typeface="Instrument Sans Medium" pitchFamily="34" charset="0"/>
                <a:ea typeface="Instrument Sans Medium" pitchFamily="34" charset="-122"/>
                <a:cs typeface="Instrument Sans Medium" pitchFamily="34" charset="-120"/>
              </a:rPr>
              <a:t>2️⃣</a:t>
            </a:r>
            <a:r>
              <a:rPr lang="en-US" sz="1800" dirty="0">
                <a:solidFill>
                  <a:srgbClr val="BFBFBF"/>
                </a:solidFill>
                <a:latin typeface="Instrument Sans Medium" pitchFamily="34" charset="0"/>
                <a:ea typeface="Instrument Sans Medium" pitchFamily="34" charset="-122"/>
                <a:cs typeface="Instrument Sans Medium" pitchFamily="34" charset="-120"/>
              </a:rPr>
              <a:t> - RÉALISATEURS</a:t>
            </a:r>
            <a:endParaRPr lang="en-US" sz="1800" dirty="0"/>
          </a:p>
        </p:txBody>
      </p:sp>
      <p:sp>
        <p:nvSpPr>
          <p:cNvPr id="11" name="Text 7"/>
          <p:cNvSpPr/>
          <p:nvPr/>
        </p:nvSpPr>
        <p:spPr>
          <a:xfrm>
            <a:off x="5341312" y="4296563"/>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CRUD simplifié.</a:t>
            </a:r>
            <a:endParaRPr lang="en-US" sz="1600">
              <a:latin typeface="Open Sans"/>
              <a:ea typeface="Open Sans"/>
              <a:cs typeface="Open Sans"/>
            </a:endParaRPr>
          </a:p>
        </p:txBody>
      </p:sp>
      <p:sp>
        <p:nvSpPr>
          <p:cNvPr id="12" name="Text 8"/>
          <p:cNvSpPr/>
          <p:nvPr/>
        </p:nvSpPr>
        <p:spPr>
          <a:xfrm>
            <a:off x="5325547" y="4729593"/>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Ajout rapide via modal.</a:t>
            </a:r>
            <a:endParaRPr lang="en-US" sz="1600">
              <a:latin typeface="Open Sans"/>
              <a:ea typeface="Open Sans"/>
              <a:cs typeface="Open Sans"/>
            </a:endParaRPr>
          </a:p>
        </p:txBody>
      </p:sp>
      <p:sp>
        <p:nvSpPr>
          <p:cNvPr id="13" name="Text 9"/>
          <p:cNvSpPr/>
          <p:nvPr/>
        </p:nvSpPr>
        <p:spPr>
          <a:xfrm>
            <a:off x="5341312" y="5257217"/>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Protection des suppressions.</a:t>
            </a:r>
            <a:endParaRPr lang="en-US" sz="1600">
              <a:latin typeface="Open Sans"/>
              <a:ea typeface="Open Sans"/>
              <a:cs typeface="Open Sans"/>
            </a:endParaRPr>
          </a:p>
        </p:txBody>
      </p:sp>
      <p:pic>
        <p:nvPicPr>
          <p:cNvPr id="14" name="Image 2" descr="preencoded.png"/>
          <p:cNvPicPr>
            <a:picLocks noChangeAspect="1"/>
          </p:cNvPicPr>
          <p:nvPr/>
        </p:nvPicPr>
        <p:blipFill>
          <a:blip r:embed="rId5"/>
          <a:stretch>
            <a:fillRect/>
          </a:stretch>
        </p:blipFill>
        <p:spPr>
          <a:xfrm>
            <a:off x="9488924" y="2724626"/>
            <a:ext cx="4347567" cy="737116"/>
          </a:xfrm>
          <a:prstGeom prst="rect">
            <a:avLst/>
          </a:prstGeom>
        </p:spPr>
      </p:pic>
      <p:sp>
        <p:nvSpPr>
          <p:cNvPr id="15" name="Text 10"/>
          <p:cNvSpPr/>
          <p:nvPr/>
        </p:nvSpPr>
        <p:spPr>
          <a:xfrm>
            <a:off x="9673114" y="3645932"/>
            <a:ext cx="2795945" cy="287893"/>
          </a:xfrm>
          <a:prstGeom prst="rect">
            <a:avLst/>
          </a:prstGeom>
          <a:noFill/>
          <a:ln/>
        </p:spPr>
        <p:txBody>
          <a:bodyPr wrap="none" lIns="0" tIns="0" rIns="0" bIns="0" rtlCol="0" anchor="t"/>
          <a:lstStyle/>
          <a:p>
            <a:pPr marL="0" indent="0" algn="l">
              <a:lnSpc>
                <a:spcPts val="2250"/>
              </a:lnSpc>
              <a:buNone/>
            </a:pPr>
            <a:r>
              <a:rPr lang="en-US" sz="1800" dirty="0">
                <a:solidFill>
                  <a:srgbClr val="BFBFBF"/>
                </a:solidFill>
                <a:latin typeface="Instrument Sans Medium" pitchFamily="34" charset="0"/>
                <a:ea typeface="Instrument Sans Medium" pitchFamily="34" charset="-122"/>
                <a:cs typeface="Instrument Sans Medium" pitchFamily="34" charset="-120"/>
              </a:rPr>
              <a:t>Module </a:t>
            </a:r>
            <a:r>
              <a:rPr lang="en-US" sz="1800" dirty="0">
                <a:solidFill>
                  <a:srgbClr val="000000"/>
                </a:solidFill>
                <a:latin typeface="Instrument Sans Medium" pitchFamily="34" charset="0"/>
                <a:ea typeface="Instrument Sans Medium" pitchFamily="34" charset="-122"/>
                <a:cs typeface="Instrument Sans Medium" pitchFamily="34" charset="-120"/>
              </a:rPr>
              <a:t>3️⃣</a:t>
            </a:r>
            <a:r>
              <a:rPr lang="en-US" sz="1800" dirty="0">
                <a:solidFill>
                  <a:srgbClr val="BFBFBF"/>
                </a:solidFill>
                <a:latin typeface="Instrument Sans Medium" pitchFamily="34" charset="0"/>
                <a:ea typeface="Instrument Sans Medium" pitchFamily="34" charset="-122"/>
                <a:cs typeface="Instrument Sans Medium" pitchFamily="34" charset="-120"/>
              </a:rPr>
              <a:t> - DASHBOARD</a:t>
            </a:r>
            <a:endParaRPr lang="en-US" sz="1800" dirty="0"/>
          </a:p>
        </p:txBody>
      </p:sp>
      <p:sp>
        <p:nvSpPr>
          <p:cNvPr id="16" name="Text 11"/>
          <p:cNvSpPr/>
          <p:nvPr/>
        </p:nvSpPr>
        <p:spPr>
          <a:xfrm>
            <a:off x="9625817" y="4359625"/>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4 KPI dynamiques.</a:t>
            </a:r>
            <a:endParaRPr lang="en-US" sz="1600">
              <a:latin typeface="Open Sans"/>
              <a:ea typeface="Open Sans"/>
              <a:cs typeface="Open Sans"/>
            </a:endParaRPr>
          </a:p>
        </p:txBody>
      </p:sp>
      <p:sp>
        <p:nvSpPr>
          <p:cNvPr id="17" name="Text 12"/>
          <p:cNvSpPr/>
          <p:nvPr/>
        </p:nvSpPr>
        <p:spPr>
          <a:xfrm>
            <a:off x="9673114" y="4729593"/>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2 graphiques Chart.js.</a:t>
            </a:r>
            <a:endParaRPr lang="en-US" sz="1600">
              <a:latin typeface="Calibri"/>
              <a:ea typeface="Calibri"/>
              <a:cs typeface="Calibri"/>
            </a:endParaRPr>
          </a:p>
        </p:txBody>
      </p:sp>
      <p:sp>
        <p:nvSpPr>
          <p:cNvPr id="18" name="Text 13"/>
          <p:cNvSpPr/>
          <p:nvPr/>
        </p:nvSpPr>
        <p:spPr>
          <a:xfrm>
            <a:off x="9673114" y="5257217"/>
            <a:ext cx="3979188" cy="368618"/>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BFBFBF"/>
                </a:solidFill>
                <a:latin typeface="Open Sans"/>
                <a:ea typeface="Open Sans"/>
                <a:cs typeface="Open Sans"/>
              </a:rPr>
              <a:t>API OMDB intégrée.</a:t>
            </a:r>
            <a:endParaRPr lang="en-US" sz="1600">
              <a:latin typeface="Calibri"/>
              <a:ea typeface="Calibri"/>
              <a:cs typeface="Calibri"/>
            </a:endParaRPr>
          </a:p>
        </p:txBody>
      </p:sp>
      <p:sp>
        <p:nvSpPr>
          <p:cNvPr id="19" name="Text 14"/>
          <p:cNvSpPr/>
          <p:nvPr/>
        </p:nvSpPr>
        <p:spPr>
          <a:xfrm>
            <a:off x="793790" y="6039088"/>
            <a:ext cx="13042821" cy="737235"/>
          </a:xfrm>
          <a:prstGeom prst="rect">
            <a:avLst/>
          </a:prstGeom>
          <a:noFill/>
          <a:ln/>
        </p:spPr>
        <p:txBody>
          <a:bodyPr wrap="square" lIns="0" tIns="0" rIns="0" bIns="0" rtlCol="0" anchor="t"/>
          <a:lstStyle/>
          <a:p>
            <a:pPr marL="0" indent="0" algn="l">
              <a:lnSpc>
                <a:spcPts val="2900"/>
              </a:lnSpc>
              <a:buNone/>
            </a:pPr>
            <a:r>
              <a:rPr lang="en-US" sz="1800" dirty="0">
                <a:solidFill>
                  <a:srgbClr val="BFBFBF"/>
                </a:solidFill>
                <a:latin typeface="Open Sans" pitchFamily="34" charset="0"/>
                <a:ea typeface="Open Sans" pitchFamily="34" charset="-122"/>
                <a:cs typeface="Open Sans" pitchFamily="34" charset="-120"/>
              </a:rPr>
              <a:t>L'architecture de CineTech est modulaire, permettant une gestion efficace et une évolutivité future. Chaque module est conçu pour une tâche spécifique, garantissant une séparation claire des préoccupations et une maintenance facilitée.</a:t>
            </a:r>
            <a:endParaRPr lang="en-US" sz="1800" dirty="0"/>
          </a:p>
        </p:txBody>
      </p:sp>
      <p:sp>
        <p:nvSpPr>
          <p:cNvPr id="21" name="Rectangle 20">
            <a:extLst>
              <a:ext uri="{FF2B5EF4-FFF2-40B4-BE49-F238E27FC236}">
                <a16:creationId xmlns:a16="http://schemas.microsoft.com/office/drawing/2014/main" id="{A9D40290-99ED-A05F-9BDD-60D371B26A6C}"/>
              </a:ext>
            </a:extLst>
          </p:cNvPr>
          <p:cNvSpPr/>
          <p:nvPr/>
        </p:nvSpPr>
        <p:spPr>
          <a:xfrm>
            <a:off x="12830878" y="7714343"/>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3048" y="965359"/>
            <a:ext cx="3326130" cy="415766"/>
          </a:xfrm>
          <a:prstGeom prst="rect">
            <a:avLst/>
          </a:prstGeom>
          <a:noFill/>
          <a:ln/>
        </p:spPr>
        <p:txBody>
          <a:bodyPr wrap="none" lIns="0" tIns="0" rIns="0" bIns="0" rtlCol="0" anchor="t"/>
          <a:lstStyle/>
          <a:p>
            <a:pPr marL="0" indent="0" algn="l">
              <a:lnSpc>
                <a:spcPts val="3250"/>
              </a:lnSpc>
              <a:buNone/>
            </a:pPr>
            <a:r>
              <a:rPr lang="en-US" sz="2600" dirty="0">
                <a:solidFill>
                  <a:srgbClr val="FEFEFE"/>
                </a:solidFill>
                <a:latin typeface="Instrument Sans Medium" pitchFamily="34" charset="0"/>
                <a:ea typeface="Instrument Sans Medium" pitchFamily="34" charset="-122"/>
                <a:cs typeface="Instrument Sans Medium" pitchFamily="34" charset="-120"/>
              </a:rPr>
              <a:t>Stack Technique</a:t>
            </a:r>
            <a:endParaRPr lang="en-US" sz="2600" dirty="0"/>
          </a:p>
        </p:txBody>
      </p:sp>
      <p:sp>
        <p:nvSpPr>
          <p:cNvPr id="3" name="Text 1"/>
          <p:cNvSpPr/>
          <p:nvPr/>
        </p:nvSpPr>
        <p:spPr>
          <a:xfrm>
            <a:off x="573048" y="1434227"/>
            <a:ext cx="1995726" cy="249436"/>
          </a:xfrm>
          <a:prstGeom prst="rect">
            <a:avLst/>
          </a:prstGeom>
          <a:noFill/>
          <a:ln/>
        </p:spPr>
        <p:txBody>
          <a:bodyPr wrap="none" lIns="0" tIns="0" rIns="0" bIns="0" rtlCol="0" anchor="t"/>
          <a:lstStyle/>
          <a:p>
            <a:pPr marL="0" indent="0" algn="l">
              <a:lnSpc>
                <a:spcPts val="1950"/>
              </a:lnSpc>
              <a:buNone/>
            </a:pPr>
            <a:r>
              <a:rPr lang="en-US" dirty="0">
                <a:solidFill>
                  <a:srgbClr val="FEFEFE"/>
                </a:solidFill>
                <a:latin typeface="Instrument Sans Medium"/>
                <a:ea typeface="Instrument Sans Medium" pitchFamily="34" charset="-122"/>
                <a:cs typeface="Instrument Sans Medium" pitchFamily="34" charset="-120"/>
              </a:rPr>
              <a:t>Frontend Pure</a:t>
            </a:r>
            <a:endParaRPr lang="en-US" dirty="0">
              <a:latin typeface="Instrument Sans Medium"/>
            </a:endParaRPr>
          </a:p>
        </p:txBody>
      </p:sp>
      <p:sp>
        <p:nvSpPr>
          <p:cNvPr id="4" name="Shape 2"/>
          <p:cNvSpPr/>
          <p:nvPr/>
        </p:nvSpPr>
        <p:spPr>
          <a:xfrm>
            <a:off x="573048" y="2032873"/>
            <a:ext cx="6579870" cy="1289209"/>
          </a:xfrm>
          <a:prstGeom prst="roundRect">
            <a:avLst>
              <a:gd name="adj" fmla="val 1548"/>
            </a:avLst>
          </a:prstGeom>
          <a:solidFill>
            <a:srgbClr val="1F1F1F"/>
          </a:solidFill>
          <a:ln w="15240">
            <a:solidFill>
              <a:srgbClr val="575757"/>
            </a:solidFill>
            <a:prstDash val="solid"/>
          </a:ln>
        </p:spPr>
      </p:sp>
      <p:sp>
        <p:nvSpPr>
          <p:cNvPr id="5" name="Text 3"/>
          <p:cNvSpPr/>
          <p:nvPr/>
        </p:nvSpPr>
        <p:spPr>
          <a:xfrm>
            <a:off x="721281" y="2181106"/>
            <a:ext cx="1663065" cy="207883"/>
          </a:xfrm>
          <a:prstGeom prst="rect">
            <a:avLst/>
          </a:prstGeom>
          <a:noFill/>
          <a:ln/>
        </p:spPr>
        <p:txBody>
          <a:bodyPr wrap="none" lIns="0" tIns="0" rIns="0" bIns="0" rtlCol="0" anchor="t"/>
          <a:lstStyle/>
          <a:p>
            <a:pPr marL="0" indent="0" algn="l">
              <a:lnSpc>
                <a:spcPts val="1600"/>
              </a:lnSpc>
              <a:buNone/>
            </a:pPr>
            <a:r>
              <a:rPr lang="en-US" sz="1600" dirty="0">
                <a:solidFill>
                  <a:srgbClr val="BFBFBF"/>
                </a:solidFill>
                <a:latin typeface="Instrument Sans Medium"/>
                <a:ea typeface="Instrument Sans Medium" pitchFamily="34" charset="-122"/>
                <a:cs typeface="Instrument Sans Medium" pitchFamily="34" charset="-120"/>
              </a:rPr>
              <a:t>HTML5</a:t>
            </a:r>
            <a:endParaRPr lang="en-US" sz="1600" dirty="0">
              <a:latin typeface="Instrument Sans Medium"/>
            </a:endParaRPr>
          </a:p>
        </p:txBody>
      </p:sp>
      <p:sp>
        <p:nvSpPr>
          <p:cNvPr id="6" name="Text 4"/>
          <p:cNvSpPr/>
          <p:nvPr/>
        </p:nvSpPr>
        <p:spPr>
          <a:xfrm>
            <a:off x="721281" y="2521982"/>
            <a:ext cx="6283404" cy="266105"/>
          </a:xfrm>
          <a:prstGeom prst="rect">
            <a:avLst/>
          </a:prstGeom>
          <a:noFill/>
          <a:ln/>
        </p:spPr>
        <p:txBody>
          <a:bodyPr wrap="none" lIns="0" tIns="0" rIns="0" bIns="0" rtlCol="0" anchor="t"/>
          <a:lstStyle/>
          <a:p>
            <a:pPr marL="0" indent="0" algn="l">
              <a:lnSpc>
                <a:spcPts val="2050"/>
              </a:lnSpc>
              <a:buNone/>
            </a:pPr>
            <a:r>
              <a:rPr lang="en-US" sz="1600" b="1" dirty="0">
                <a:solidFill>
                  <a:srgbClr val="BFBFBF"/>
                </a:solidFill>
                <a:latin typeface="Open Sans"/>
                <a:ea typeface="Open Sans"/>
                <a:cs typeface="Open Sans"/>
              </a:rPr>
              <a:t>154 lignes</a:t>
            </a:r>
            <a:endParaRPr lang="en-US" sz="1600" dirty="0">
              <a:latin typeface="Open Sans"/>
              <a:ea typeface="Open Sans"/>
              <a:cs typeface="Open Sans"/>
            </a:endParaRPr>
          </a:p>
        </p:txBody>
      </p:sp>
      <p:sp>
        <p:nvSpPr>
          <p:cNvPr id="7" name="Text 5"/>
          <p:cNvSpPr/>
          <p:nvPr/>
        </p:nvSpPr>
        <p:spPr>
          <a:xfrm>
            <a:off x="721281" y="2907744"/>
            <a:ext cx="6283404" cy="266105"/>
          </a:xfrm>
          <a:prstGeom prst="rect">
            <a:avLst/>
          </a:prstGeom>
          <a:noFill/>
          <a:ln/>
        </p:spPr>
        <p:txBody>
          <a:bodyPr wrap="none" lIns="0" tIns="0" rIns="0" bIns="0" rtlCol="0" anchor="t"/>
          <a:lstStyle/>
          <a:p>
            <a:pPr marL="0" indent="0" algn="l">
              <a:lnSpc>
                <a:spcPts val="2050"/>
              </a:lnSpc>
              <a:buNone/>
            </a:pPr>
            <a:r>
              <a:rPr lang="en-US" sz="1600" dirty="0">
                <a:solidFill>
                  <a:srgbClr val="BFBFBF"/>
                </a:solidFill>
                <a:latin typeface="Open Sans"/>
                <a:ea typeface="Open Sans"/>
                <a:cs typeface="Open Sans"/>
              </a:rPr>
              <a:t>Structure sémantique pour une Single Page Application.</a:t>
            </a:r>
            <a:endParaRPr lang="en-US" sz="1400" dirty="0">
              <a:latin typeface="Open Sans"/>
              <a:ea typeface="Open Sans"/>
              <a:cs typeface="Open Sans"/>
            </a:endParaRPr>
          </a:p>
        </p:txBody>
      </p:sp>
      <p:sp>
        <p:nvSpPr>
          <p:cNvPr id="8" name="Shape 6"/>
          <p:cNvSpPr/>
          <p:nvPr/>
        </p:nvSpPr>
        <p:spPr>
          <a:xfrm>
            <a:off x="573048" y="3455075"/>
            <a:ext cx="6579870" cy="1555313"/>
          </a:xfrm>
          <a:prstGeom prst="roundRect">
            <a:avLst>
              <a:gd name="adj" fmla="val 1283"/>
            </a:avLst>
          </a:prstGeom>
          <a:solidFill>
            <a:srgbClr val="1F1F1F"/>
          </a:solidFill>
          <a:ln w="15240">
            <a:solidFill>
              <a:srgbClr val="575757"/>
            </a:solidFill>
            <a:prstDash val="solid"/>
          </a:ln>
        </p:spPr>
      </p:sp>
      <p:sp>
        <p:nvSpPr>
          <p:cNvPr id="9" name="Text 7"/>
          <p:cNvSpPr/>
          <p:nvPr/>
        </p:nvSpPr>
        <p:spPr>
          <a:xfrm>
            <a:off x="721281" y="3603308"/>
            <a:ext cx="1663065" cy="207883"/>
          </a:xfrm>
          <a:prstGeom prst="rect">
            <a:avLst/>
          </a:prstGeom>
          <a:noFill/>
          <a:ln/>
        </p:spPr>
        <p:txBody>
          <a:bodyPr wrap="none" lIns="0" tIns="0" rIns="0" bIns="0" rtlCol="0" anchor="t"/>
          <a:lstStyle/>
          <a:p>
            <a:pPr marL="0" indent="0" algn="l">
              <a:lnSpc>
                <a:spcPts val="1600"/>
              </a:lnSpc>
              <a:buNone/>
            </a:pPr>
            <a:r>
              <a:rPr lang="en-US" sz="1600" dirty="0">
                <a:solidFill>
                  <a:srgbClr val="BFBFBF"/>
                </a:solidFill>
                <a:latin typeface="Instrument Sans Medium"/>
                <a:ea typeface="Instrument Sans Medium" pitchFamily="34" charset="-122"/>
                <a:cs typeface="Instrument Sans Medium" pitchFamily="34" charset="-120"/>
              </a:rPr>
              <a:t>CSS3</a:t>
            </a:r>
            <a:endParaRPr lang="en-US" sz="1600">
              <a:latin typeface="Instrument Sans Medium"/>
            </a:endParaRPr>
          </a:p>
        </p:txBody>
      </p:sp>
      <p:sp>
        <p:nvSpPr>
          <p:cNvPr id="10" name="Text 8"/>
          <p:cNvSpPr/>
          <p:nvPr/>
        </p:nvSpPr>
        <p:spPr>
          <a:xfrm>
            <a:off x="721281" y="3944183"/>
            <a:ext cx="6283404" cy="266105"/>
          </a:xfrm>
          <a:prstGeom prst="rect">
            <a:avLst/>
          </a:prstGeom>
          <a:noFill/>
          <a:ln/>
        </p:spPr>
        <p:txBody>
          <a:bodyPr wrap="none" lIns="0" tIns="0" rIns="0" bIns="0" rtlCol="0" anchor="t"/>
          <a:lstStyle/>
          <a:p>
            <a:pPr marL="0" indent="0" algn="l">
              <a:lnSpc>
                <a:spcPts val="2050"/>
              </a:lnSpc>
              <a:buNone/>
            </a:pPr>
            <a:r>
              <a:rPr lang="en-US" sz="1600" b="1" dirty="0">
                <a:solidFill>
                  <a:srgbClr val="BFBFBF"/>
                </a:solidFill>
                <a:latin typeface="Open Sans"/>
                <a:ea typeface="Open Sans"/>
                <a:cs typeface="Open Sans"/>
              </a:rPr>
              <a:t>651 lignes</a:t>
            </a:r>
            <a:endParaRPr lang="en-US" sz="1400" dirty="0">
              <a:latin typeface="Open Sans"/>
              <a:ea typeface="Open Sans"/>
              <a:cs typeface="Open Sans"/>
            </a:endParaRPr>
          </a:p>
        </p:txBody>
      </p:sp>
      <p:sp>
        <p:nvSpPr>
          <p:cNvPr id="11" name="Text 9"/>
          <p:cNvSpPr/>
          <p:nvPr/>
        </p:nvSpPr>
        <p:spPr>
          <a:xfrm>
            <a:off x="721281" y="4329946"/>
            <a:ext cx="6283404" cy="532209"/>
          </a:xfrm>
          <a:prstGeom prst="rect">
            <a:avLst/>
          </a:prstGeom>
          <a:noFill/>
          <a:ln/>
        </p:spPr>
        <p:txBody>
          <a:bodyPr wrap="square" lIns="0" tIns="0" rIns="0" bIns="0" rtlCol="0" anchor="t"/>
          <a:lstStyle/>
          <a:p>
            <a:pPr marL="0" indent="0" algn="l">
              <a:lnSpc>
                <a:spcPts val="2050"/>
              </a:lnSpc>
              <a:buNone/>
            </a:pPr>
            <a:r>
              <a:rPr lang="en-US" sz="1600" dirty="0">
                <a:solidFill>
                  <a:srgbClr val="BFBFBF"/>
                </a:solidFill>
                <a:latin typeface="Open Sans"/>
                <a:ea typeface="Open Sans"/>
                <a:cs typeface="Open Sans"/>
              </a:rPr>
              <a:t>Utilisation intensive de variables CSS, Grid et Flexbox pour un design responsive et moderne.</a:t>
            </a:r>
            <a:endParaRPr lang="en-US" sz="1600" dirty="0">
              <a:latin typeface="Calibri" panose="020F0502020204030204"/>
              <a:ea typeface="Calibri" panose="020F0502020204030204"/>
              <a:cs typeface="Calibri" panose="020F0502020204030204"/>
            </a:endParaRPr>
          </a:p>
        </p:txBody>
      </p:sp>
      <p:sp>
        <p:nvSpPr>
          <p:cNvPr id="12" name="Shape 10"/>
          <p:cNvSpPr/>
          <p:nvPr/>
        </p:nvSpPr>
        <p:spPr>
          <a:xfrm>
            <a:off x="573048" y="5143381"/>
            <a:ext cx="6579870" cy="1555313"/>
          </a:xfrm>
          <a:prstGeom prst="roundRect">
            <a:avLst>
              <a:gd name="adj" fmla="val 1283"/>
            </a:avLst>
          </a:prstGeom>
          <a:solidFill>
            <a:srgbClr val="1F1F1F"/>
          </a:solidFill>
          <a:ln w="15240">
            <a:solidFill>
              <a:srgbClr val="575757"/>
            </a:solidFill>
            <a:prstDash val="solid"/>
          </a:ln>
        </p:spPr>
      </p:sp>
      <p:sp>
        <p:nvSpPr>
          <p:cNvPr id="13" name="Text 11"/>
          <p:cNvSpPr/>
          <p:nvPr/>
        </p:nvSpPr>
        <p:spPr>
          <a:xfrm>
            <a:off x="721281" y="5291614"/>
            <a:ext cx="1663065" cy="207883"/>
          </a:xfrm>
          <a:prstGeom prst="rect">
            <a:avLst/>
          </a:prstGeom>
          <a:noFill/>
          <a:ln/>
        </p:spPr>
        <p:txBody>
          <a:bodyPr wrap="none" lIns="0" tIns="0" rIns="0" bIns="0" rtlCol="0" anchor="t"/>
          <a:lstStyle/>
          <a:p>
            <a:pPr marL="0" indent="0" algn="l">
              <a:lnSpc>
                <a:spcPts val="1600"/>
              </a:lnSpc>
              <a:buNone/>
            </a:pPr>
            <a:r>
              <a:rPr lang="en-US" sz="1600" dirty="0">
                <a:solidFill>
                  <a:srgbClr val="BFBFBF"/>
                </a:solidFill>
                <a:latin typeface="Instrument Sans Medium"/>
                <a:ea typeface="Instrument Sans Medium" pitchFamily="34" charset="-122"/>
                <a:cs typeface="Instrument Sans Medium" pitchFamily="34" charset="-120"/>
              </a:rPr>
              <a:t>JavaScript Vanilla</a:t>
            </a:r>
            <a:endParaRPr lang="en-US" sz="1300" dirty="0">
              <a:latin typeface="Instrument Sans Medium"/>
              <a:ea typeface="Calibri" panose="020F0502020204030204"/>
              <a:cs typeface="Calibri" panose="020F0502020204030204"/>
            </a:endParaRPr>
          </a:p>
        </p:txBody>
      </p:sp>
      <p:sp>
        <p:nvSpPr>
          <p:cNvPr id="14" name="Text 12"/>
          <p:cNvSpPr/>
          <p:nvPr/>
        </p:nvSpPr>
        <p:spPr>
          <a:xfrm>
            <a:off x="721281" y="5632490"/>
            <a:ext cx="6283404" cy="266105"/>
          </a:xfrm>
          <a:prstGeom prst="rect">
            <a:avLst/>
          </a:prstGeom>
          <a:noFill/>
          <a:ln/>
        </p:spPr>
        <p:txBody>
          <a:bodyPr wrap="none" lIns="0" tIns="0" rIns="0" bIns="0" rtlCol="0" anchor="t"/>
          <a:lstStyle/>
          <a:p>
            <a:pPr marL="0" indent="0" algn="l">
              <a:lnSpc>
                <a:spcPts val="2050"/>
              </a:lnSpc>
              <a:buNone/>
            </a:pPr>
            <a:r>
              <a:rPr lang="en-US" sz="1600" b="1" dirty="0">
                <a:solidFill>
                  <a:srgbClr val="BFBFBF"/>
                </a:solidFill>
                <a:latin typeface="Open Sans"/>
                <a:ea typeface="Open Sans"/>
                <a:cs typeface="Open Sans"/>
              </a:rPr>
              <a:t>569 lignes</a:t>
            </a:r>
            <a:endParaRPr lang="en-US" sz="1600" dirty="0">
              <a:latin typeface="Open Sans"/>
              <a:ea typeface="Open Sans"/>
              <a:cs typeface="Open Sans"/>
            </a:endParaRPr>
          </a:p>
        </p:txBody>
      </p:sp>
      <p:sp>
        <p:nvSpPr>
          <p:cNvPr id="15" name="Text 13"/>
          <p:cNvSpPr/>
          <p:nvPr/>
        </p:nvSpPr>
        <p:spPr>
          <a:xfrm>
            <a:off x="721281" y="6018252"/>
            <a:ext cx="6283404" cy="532209"/>
          </a:xfrm>
          <a:prstGeom prst="rect">
            <a:avLst/>
          </a:prstGeom>
          <a:noFill/>
          <a:ln/>
        </p:spPr>
        <p:txBody>
          <a:bodyPr wrap="square" lIns="0" tIns="0" rIns="0" bIns="0" rtlCol="0" anchor="t"/>
          <a:lstStyle/>
          <a:p>
            <a:pPr marL="0" indent="0" algn="l">
              <a:lnSpc>
                <a:spcPts val="2050"/>
              </a:lnSpc>
              <a:buNone/>
            </a:pPr>
            <a:r>
              <a:rPr lang="en-US" sz="1600" dirty="0">
                <a:solidFill>
                  <a:srgbClr val="BFBFBF"/>
                </a:solidFill>
                <a:latin typeface="Open Sans"/>
                <a:ea typeface="Open Sans"/>
                <a:cs typeface="Open Sans"/>
              </a:rPr>
              <a:t>Manipulation du DOM, gestion asynchrone avec Async/Await et persistance des données via LocalStorage.</a:t>
            </a:r>
            <a:endParaRPr lang="en-US" sz="1400" dirty="0">
              <a:latin typeface="Open Sans"/>
              <a:ea typeface="Open Sans"/>
              <a:cs typeface="Open Sans"/>
            </a:endParaRPr>
          </a:p>
        </p:txBody>
      </p:sp>
      <p:sp>
        <p:nvSpPr>
          <p:cNvPr id="16" name="Text 14"/>
          <p:cNvSpPr/>
          <p:nvPr/>
        </p:nvSpPr>
        <p:spPr>
          <a:xfrm>
            <a:off x="7485102" y="2016204"/>
            <a:ext cx="1995726" cy="249436"/>
          </a:xfrm>
          <a:prstGeom prst="rect">
            <a:avLst/>
          </a:prstGeom>
          <a:noFill/>
          <a:ln/>
        </p:spPr>
        <p:txBody>
          <a:bodyPr wrap="none" lIns="0" tIns="0" rIns="0" bIns="0" rtlCol="0" anchor="t"/>
          <a:lstStyle/>
          <a:p>
            <a:pPr marL="0" indent="0" algn="l">
              <a:lnSpc>
                <a:spcPts val="1950"/>
              </a:lnSpc>
              <a:buNone/>
            </a:pPr>
            <a:r>
              <a:rPr lang="en-US" dirty="0">
                <a:solidFill>
                  <a:srgbClr val="FEFEFE"/>
                </a:solidFill>
                <a:latin typeface="Instrument Sans Medium"/>
                <a:ea typeface="Instrument Sans Medium" pitchFamily="34" charset="-122"/>
                <a:cs typeface="Instrument Sans Medium" pitchFamily="34" charset="-120"/>
              </a:rPr>
              <a:t>Bibliothèques</a:t>
            </a:r>
            <a:endParaRPr lang="en-US" sz="1600" dirty="0">
              <a:latin typeface="Instrument Sans Medium"/>
            </a:endParaRPr>
          </a:p>
        </p:txBody>
      </p:sp>
      <p:sp>
        <p:nvSpPr>
          <p:cNvPr id="17" name="Text 15"/>
          <p:cNvSpPr/>
          <p:nvPr/>
        </p:nvSpPr>
        <p:spPr>
          <a:xfrm>
            <a:off x="7500867" y="2445930"/>
            <a:ext cx="6564105" cy="589035"/>
          </a:xfrm>
          <a:prstGeom prst="rect">
            <a:avLst/>
          </a:prstGeom>
          <a:noFill/>
          <a:ln/>
        </p:spPr>
        <p:txBody>
          <a:bodyPr wrap="none" lIns="0" tIns="0" rIns="0" bIns="0" rtlCol="0" anchor="t"/>
          <a:lstStyle/>
          <a:p>
            <a:pPr marL="342900" indent="-342900" algn="l">
              <a:lnSpc>
                <a:spcPts val="1650"/>
              </a:lnSpc>
              <a:buSzPct val="100000"/>
              <a:buChar char="•"/>
            </a:pPr>
            <a:r>
              <a:rPr lang="en-US" sz="1600" dirty="0">
                <a:solidFill>
                  <a:srgbClr val="BFBFBF"/>
                </a:solidFill>
                <a:latin typeface="Open Sans"/>
                <a:ea typeface="Open Sans"/>
                <a:cs typeface="Open Sans"/>
              </a:rPr>
              <a:t>📊</a:t>
            </a:r>
            <a:r>
              <a:rPr lang="en-US" sz="1600" b="1" dirty="0">
                <a:solidFill>
                  <a:srgbClr val="BFBFBF"/>
                </a:solidFill>
                <a:latin typeface="Open Sans"/>
                <a:ea typeface="Open Sans"/>
                <a:cs typeface="Open Sans"/>
              </a:rPr>
              <a:t> Chart.js : </a:t>
            </a:r>
            <a:r>
              <a:rPr lang="en-US" sz="1600" dirty="0">
                <a:solidFill>
                  <a:srgbClr val="BFBFBF"/>
                </a:solidFill>
                <a:latin typeface="Open Sans"/>
                <a:ea typeface="Open Sans"/>
                <a:cs typeface="Open Sans"/>
              </a:rPr>
              <a:t>Pour la création de graphiques interactifs et dynamiques.</a:t>
            </a:r>
          </a:p>
        </p:txBody>
      </p:sp>
      <p:sp>
        <p:nvSpPr>
          <p:cNvPr id="18" name="Text 16"/>
          <p:cNvSpPr/>
          <p:nvPr/>
        </p:nvSpPr>
        <p:spPr>
          <a:xfrm>
            <a:off x="7500868" y="3097283"/>
            <a:ext cx="6579870" cy="792076"/>
          </a:xfrm>
          <a:prstGeom prst="rect">
            <a:avLst/>
          </a:prstGeom>
          <a:noFill/>
          <a:ln/>
        </p:spPr>
        <p:txBody>
          <a:bodyPr wrap="square" lIns="0" tIns="0" rIns="0" bIns="0" rtlCol="0" anchor="t"/>
          <a:lstStyle/>
          <a:p>
            <a:pPr marL="342900" indent="-342900" algn="l">
              <a:lnSpc>
                <a:spcPts val="1650"/>
              </a:lnSpc>
              <a:buSzPct val="100000"/>
              <a:buChar char="•"/>
            </a:pPr>
            <a:r>
              <a:rPr lang="en-US" sz="1600" dirty="0">
                <a:solidFill>
                  <a:srgbClr val="BFBFBF"/>
                </a:solidFill>
                <a:latin typeface="Open Sans"/>
                <a:ea typeface="Open Sans"/>
                <a:cs typeface="Open Sans"/>
              </a:rPr>
              <a:t>🎨 </a:t>
            </a:r>
            <a:r>
              <a:rPr lang="en-US" sz="1600" b="1" dirty="0">
                <a:solidFill>
                  <a:srgbClr val="BFBFBF"/>
                </a:solidFill>
                <a:latin typeface="Open Sans"/>
                <a:ea typeface="Open Sans"/>
                <a:cs typeface="Open Sans"/>
              </a:rPr>
              <a:t>Font Awesome :</a:t>
            </a:r>
            <a:r>
              <a:rPr lang="en-US" sz="1600" dirty="0">
                <a:solidFill>
                  <a:srgbClr val="BFBFBF"/>
                </a:solidFill>
                <a:latin typeface="Open Sans"/>
                <a:ea typeface="Open Sans"/>
                <a:cs typeface="Open Sans"/>
              </a:rPr>
              <a:t> Intégration d'une riche iconographie pour améliorer l'interface utilisateur.</a:t>
            </a:r>
          </a:p>
        </p:txBody>
      </p:sp>
      <p:sp>
        <p:nvSpPr>
          <p:cNvPr id="19" name="Text 17"/>
          <p:cNvSpPr/>
          <p:nvPr/>
        </p:nvSpPr>
        <p:spPr>
          <a:xfrm>
            <a:off x="7485102" y="4060787"/>
            <a:ext cx="6594384" cy="801086"/>
          </a:xfrm>
          <a:prstGeom prst="rect">
            <a:avLst/>
          </a:prstGeom>
          <a:noFill/>
          <a:ln/>
        </p:spPr>
        <p:txBody>
          <a:bodyPr wrap="square" lIns="0" tIns="0" rIns="0" bIns="0" rtlCol="0" anchor="t"/>
          <a:lstStyle/>
          <a:p>
            <a:pPr marL="342900" indent="-342900" algn="l">
              <a:lnSpc>
                <a:spcPts val="1650"/>
              </a:lnSpc>
              <a:buSzPct val="100000"/>
              <a:buChar char="•"/>
            </a:pPr>
            <a:r>
              <a:rPr lang="en-US" sz="1400" dirty="0">
                <a:solidFill>
                  <a:srgbClr val="BFBFBF"/>
                </a:solidFill>
                <a:latin typeface="Open Sans"/>
                <a:ea typeface="Open Sans"/>
                <a:cs typeface="Open Sans"/>
              </a:rPr>
              <a:t>🎬</a:t>
            </a:r>
            <a:r>
              <a:rPr lang="en-US" sz="1400" b="1" dirty="0">
                <a:solidFill>
                  <a:srgbClr val="BFBFBF"/>
                </a:solidFill>
                <a:latin typeface="Open Sans"/>
                <a:ea typeface="Open Sans"/>
                <a:cs typeface="Open Sans"/>
              </a:rPr>
              <a:t> OMDB API :</a:t>
            </a:r>
            <a:r>
              <a:rPr lang="en-US" sz="1400" dirty="0">
                <a:solidFill>
                  <a:srgbClr val="BFBFBF"/>
                </a:solidFill>
                <a:latin typeface="Open Sans"/>
                <a:ea typeface="Open Sans"/>
                <a:cs typeface="Open Sans"/>
              </a:rPr>
              <a:t> Connexion à une base de données externe pour enrichir les informations sur les films.</a:t>
            </a:r>
          </a:p>
        </p:txBody>
      </p:sp>
      <p:sp>
        <p:nvSpPr>
          <p:cNvPr id="20" name="Text 18"/>
          <p:cNvSpPr/>
          <p:nvPr/>
        </p:nvSpPr>
        <p:spPr>
          <a:xfrm>
            <a:off x="667641" y="6998018"/>
            <a:ext cx="13389711" cy="770601"/>
          </a:xfrm>
          <a:prstGeom prst="rect">
            <a:avLst/>
          </a:prstGeom>
          <a:noFill/>
          <a:ln/>
        </p:spPr>
        <p:txBody>
          <a:bodyPr wrap="none" lIns="0" tIns="0" rIns="0" bIns="0" rtlCol="0" anchor="t"/>
          <a:lstStyle/>
          <a:p>
            <a:pPr marL="0" indent="0" algn="l">
              <a:lnSpc>
                <a:spcPts val="2050"/>
              </a:lnSpc>
              <a:buNone/>
            </a:pPr>
            <a:r>
              <a:rPr lang="en-US" sz="1600" dirty="0">
                <a:solidFill>
                  <a:srgbClr val="BFBFBF"/>
                </a:solidFill>
                <a:latin typeface="Open Sans"/>
                <a:ea typeface="Open Sans"/>
                <a:cs typeface="Open Sans"/>
              </a:rPr>
              <a:t>Le choix du JavaScript Vanilla et des bibliothèques légères a permis de construire une application performante et optimisée, tout en respectant les contraintes du projet.</a:t>
            </a:r>
            <a:endParaRPr lang="en-US" sz="1600">
              <a:latin typeface="Open Sans"/>
              <a:ea typeface="Open Sans"/>
              <a:cs typeface="Open Sans"/>
            </a:endParaRPr>
          </a:p>
        </p:txBody>
      </p:sp>
      <p:sp>
        <p:nvSpPr>
          <p:cNvPr id="21" name="Rectangle 20">
            <a:extLst>
              <a:ext uri="{FF2B5EF4-FFF2-40B4-BE49-F238E27FC236}">
                <a16:creationId xmlns:a16="http://schemas.microsoft.com/office/drawing/2014/main" id="{7DAB8D78-0CC4-01D4-251B-8D38895804B3}"/>
              </a:ext>
            </a:extLst>
          </p:cNvPr>
          <p:cNvSpPr/>
          <p:nvPr/>
        </p:nvSpPr>
        <p:spPr>
          <a:xfrm>
            <a:off x="12830878" y="7714343"/>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1518" y="865584"/>
            <a:ext cx="4129445" cy="516136"/>
          </a:xfrm>
          <a:prstGeom prst="rect">
            <a:avLst/>
          </a:prstGeom>
          <a:noFill/>
          <a:ln/>
        </p:spPr>
        <p:txBody>
          <a:bodyPr wrap="none" lIns="0" tIns="0" rIns="0" bIns="0" rtlCol="0" anchor="t"/>
          <a:lstStyle/>
          <a:p>
            <a:pPr marL="0" indent="0" algn="l">
              <a:lnSpc>
                <a:spcPts val="4050"/>
              </a:lnSpc>
              <a:buNone/>
            </a:pPr>
            <a:r>
              <a:rPr lang="en-US" sz="3250" dirty="0">
                <a:solidFill>
                  <a:srgbClr val="FEFEFE"/>
                </a:solidFill>
                <a:latin typeface="Instrument Sans Medium" pitchFamily="34" charset="0"/>
                <a:ea typeface="Instrument Sans Medium" pitchFamily="34" charset="-122"/>
                <a:cs typeface="Instrument Sans Medium" pitchFamily="34" charset="-120"/>
              </a:rPr>
              <a:t>Fonctionnalités Clés</a:t>
            </a:r>
            <a:endParaRPr lang="en-US" sz="3250" dirty="0"/>
          </a:p>
        </p:txBody>
      </p:sp>
      <p:sp>
        <p:nvSpPr>
          <p:cNvPr id="3" name="Text 1"/>
          <p:cNvSpPr/>
          <p:nvPr/>
        </p:nvSpPr>
        <p:spPr>
          <a:xfrm>
            <a:off x="711518" y="1447681"/>
            <a:ext cx="5085040" cy="309682"/>
          </a:xfrm>
          <a:prstGeom prst="rect">
            <a:avLst/>
          </a:prstGeom>
          <a:noFill/>
          <a:ln/>
        </p:spPr>
        <p:txBody>
          <a:bodyPr wrap="none" lIns="0" tIns="0" rIns="0" bIns="0" rtlCol="0" anchor="t"/>
          <a:lstStyle/>
          <a:p>
            <a:pPr marL="0" indent="0" algn="l">
              <a:lnSpc>
                <a:spcPts val="2400"/>
              </a:lnSpc>
              <a:buNone/>
            </a:pPr>
            <a:r>
              <a:rPr lang="en-US" sz="1950" dirty="0">
                <a:solidFill>
                  <a:srgbClr val="FEFEFE"/>
                </a:solidFill>
                <a:latin typeface="Instrument Sans Medium" pitchFamily="34" charset="0"/>
                <a:ea typeface="Instrument Sans Medium" pitchFamily="34" charset="-122"/>
                <a:cs typeface="Instrument Sans Medium" pitchFamily="34" charset="-120"/>
              </a:rPr>
              <a:t>Gestion des Films et Importation Intelligente</a:t>
            </a:r>
            <a:endParaRPr lang="en-US" sz="1950" dirty="0"/>
          </a:p>
        </p:txBody>
      </p:sp>
      <p:sp>
        <p:nvSpPr>
          <p:cNvPr id="4" name="Shape 2"/>
          <p:cNvSpPr/>
          <p:nvPr/>
        </p:nvSpPr>
        <p:spPr>
          <a:xfrm>
            <a:off x="711518" y="2005132"/>
            <a:ext cx="4292322" cy="2338864"/>
          </a:xfrm>
          <a:prstGeom prst="roundRect">
            <a:avLst>
              <a:gd name="adj" fmla="val 1059"/>
            </a:avLst>
          </a:prstGeom>
          <a:solidFill>
            <a:srgbClr val="3E3E3E"/>
          </a:solidFill>
          <a:ln/>
        </p:spPr>
      </p:sp>
      <p:sp>
        <p:nvSpPr>
          <p:cNvPr id="5" name="Shape 3"/>
          <p:cNvSpPr/>
          <p:nvPr/>
        </p:nvSpPr>
        <p:spPr>
          <a:xfrm>
            <a:off x="876657" y="2170271"/>
            <a:ext cx="495538" cy="495538"/>
          </a:xfrm>
          <a:prstGeom prst="roundRect">
            <a:avLst>
              <a:gd name="adj" fmla="val 18450826"/>
            </a:avLst>
          </a:prstGeom>
          <a:solidFill>
            <a:srgbClr val="F5F54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2984" y="2306479"/>
            <a:ext cx="222885" cy="222885"/>
          </a:xfrm>
          <a:prstGeom prst="rect">
            <a:avLst/>
          </a:prstGeom>
        </p:spPr>
      </p:pic>
      <p:sp>
        <p:nvSpPr>
          <p:cNvPr id="7" name="Text 4"/>
          <p:cNvSpPr/>
          <p:nvPr/>
        </p:nvSpPr>
        <p:spPr>
          <a:xfrm>
            <a:off x="876657" y="2830949"/>
            <a:ext cx="2064663" cy="258008"/>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Ajout manuel</a:t>
            </a:r>
            <a:endParaRPr lang="en-US" sz="1600" dirty="0"/>
          </a:p>
        </p:txBody>
      </p:sp>
      <p:sp>
        <p:nvSpPr>
          <p:cNvPr id="8" name="Text 5"/>
          <p:cNvSpPr/>
          <p:nvPr/>
        </p:nvSpPr>
        <p:spPr>
          <a:xfrm>
            <a:off x="876657" y="3188018"/>
            <a:ext cx="3962043" cy="660559"/>
          </a:xfrm>
          <a:prstGeom prst="rect">
            <a:avLst/>
          </a:prstGeom>
          <a:noFill/>
          <a:ln/>
        </p:spPr>
        <p:txBody>
          <a:bodyPr wrap="square" lIns="0" tIns="0" rIns="0" bIns="0" rtlCol="0" anchor="t"/>
          <a:lstStyle/>
          <a:p>
            <a:pPr marL="0" indent="0" algn="l">
              <a:lnSpc>
                <a:spcPts val="2600"/>
              </a:lnSpc>
              <a:buNone/>
            </a:pPr>
            <a:r>
              <a:rPr lang="en-US" sz="1600" dirty="0">
                <a:solidFill>
                  <a:srgbClr val="BFBFBF"/>
                </a:solidFill>
                <a:latin typeface="Open Sans" pitchFamily="34" charset="0"/>
                <a:ea typeface="Open Sans" pitchFamily="34" charset="-122"/>
                <a:cs typeface="Open Sans" pitchFamily="34" charset="-120"/>
              </a:rPr>
              <a:t>Formulaire complet avec validation des données pour une saisie précise.</a:t>
            </a:r>
            <a:endParaRPr lang="en-US" sz="1600" dirty="0"/>
          </a:p>
        </p:txBody>
      </p:sp>
      <p:sp>
        <p:nvSpPr>
          <p:cNvPr id="9" name="Shape 6"/>
          <p:cNvSpPr/>
          <p:nvPr/>
        </p:nvSpPr>
        <p:spPr>
          <a:xfrm>
            <a:off x="5168979" y="2005132"/>
            <a:ext cx="4292322" cy="2338864"/>
          </a:xfrm>
          <a:prstGeom prst="roundRect">
            <a:avLst>
              <a:gd name="adj" fmla="val 1059"/>
            </a:avLst>
          </a:prstGeom>
          <a:solidFill>
            <a:srgbClr val="3E3E3E"/>
          </a:solidFill>
          <a:ln/>
        </p:spPr>
      </p:sp>
      <p:sp>
        <p:nvSpPr>
          <p:cNvPr id="10" name="Shape 7"/>
          <p:cNvSpPr/>
          <p:nvPr/>
        </p:nvSpPr>
        <p:spPr>
          <a:xfrm>
            <a:off x="5334119" y="2170271"/>
            <a:ext cx="495538" cy="495538"/>
          </a:xfrm>
          <a:prstGeom prst="roundRect">
            <a:avLst>
              <a:gd name="adj" fmla="val 18450826"/>
            </a:avLst>
          </a:prstGeom>
          <a:solidFill>
            <a:srgbClr val="F5F54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0446" y="2306479"/>
            <a:ext cx="222885" cy="222885"/>
          </a:xfrm>
          <a:prstGeom prst="rect">
            <a:avLst/>
          </a:prstGeom>
        </p:spPr>
      </p:pic>
      <p:sp>
        <p:nvSpPr>
          <p:cNvPr id="12" name="Text 8"/>
          <p:cNvSpPr/>
          <p:nvPr/>
        </p:nvSpPr>
        <p:spPr>
          <a:xfrm>
            <a:off x="5334119" y="2830949"/>
            <a:ext cx="2064663" cy="258008"/>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Recherche &amp; Filtrage</a:t>
            </a:r>
            <a:endParaRPr lang="en-US" sz="1600" dirty="0"/>
          </a:p>
        </p:txBody>
      </p:sp>
      <p:sp>
        <p:nvSpPr>
          <p:cNvPr id="13" name="Text 9"/>
          <p:cNvSpPr/>
          <p:nvPr/>
        </p:nvSpPr>
        <p:spPr>
          <a:xfrm>
            <a:off x="5334119" y="3188018"/>
            <a:ext cx="3962043" cy="990838"/>
          </a:xfrm>
          <a:prstGeom prst="rect">
            <a:avLst/>
          </a:prstGeom>
          <a:noFill/>
          <a:ln/>
        </p:spPr>
        <p:txBody>
          <a:bodyPr wrap="square" lIns="0" tIns="0" rIns="0" bIns="0" rtlCol="0" anchor="t"/>
          <a:lstStyle/>
          <a:p>
            <a:pPr marL="0" indent="0" algn="l">
              <a:lnSpc>
                <a:spcPts val="2600"/>
              </a:lnSpc>
              <a:buNone/>
            </a:pPr>
            <a:r>
              <a:rPr lang="en-US" sz="1600" dirty="0">
                <a:solidFill>
                  <a:srgbClr val="BFBFBF"/>
                </a:solidFill>
                <a:latin typeface="Open Sans" pitchFamily="34" charset="0"/>
                <a:ea typeface="Open Sans" pitchFamily="34" charset="-122"/>
                <a:cs typeface="Open Sans" pitchFamily="34" charset="-120"/>
              </a:rPr>
              <a:t>Recherche en temps réel (titre/genre/réalisateur) et filtrage dynamique par genre.</a:t>
            </a:r>
            <a:endParaRPr lang="en-US" sz="1600" dirty="0"/>
          </a:p>
        </p:txBody>
      </p:sp>
      <p:sp>
        <p:nvSpPr>
          <p:cNvPr id="14" name="Shape 10"/>
          <p:cNvSpPr/>
          <p:nvPr/>
        </p:nvSpPr>
        <p:spPr>
          <a:xfrm>
            <a:off x="9626441" y="2005132"/>
            <a:ext cx="4292322" cy="2338864"/>
          </a:xfrm>
          <a:prstGeom prst="roundRect">
            <a:avLst>
              <a:gd name="adj" fmla="val 1059"/>
            </a:avLst>
          </a:prstGeom>
          <a:solidFill>
            <a:srgbClr val="3E3E3E"/>
          </a:solidFill>
          <a:ln/>
        </p:spPr>
      </p:sp>
      <p:sp>
        <p:nvSpPr>
          <p:cNvPr id="15" name="Shape 11"/>
          <p:cNvSpPr/>
          <p:nvPr/>
        </p:nvSpPr>
        <p:spPr>
          <a:xfrm>
            <a:off x="9791581" y="2170271"/>
            <a:ext cx="495538" cy="495538"/>
          </a:xfrm>
          <a:prstGeom prst="roundRect">
            <a:avLst>
              <a:gd name="adj" fmla="val 18450826"/>
            </a:avLst>
          </a:prstGeom>
          <a:solidFill>
            <a:srgbClr val="F5F547"/>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27908" y="2306479"/>
            <a:ext cx="222885" cy="222885"/>
          </a:xfrm>
          <a:prstGeom prst="rect">
            <a:avLst/>
          </a:prstGeom>
        </p:spPr>
      </p:pic>
      <p:sp>
        <p:nvSpPr>
          <p:cNvPr id="17" name="Text 12"/>
          <p:cNvSpPr/>
          <p:nvPr/>
        </p:nvSpPr>
        <p:spPr>
          <a:xfrm>
            <a:off x="9791581" y="2830949"/>
            <a:ext cx="2064663" cy="258008"/>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Import Intelligent</a:t>
            </a:r>
            <a:endParaRPr lang="en-US" sz="1600" dirty="0"/>
          </a:p>
        </p:txBody>
      </p:sp>
      <p:sp>
        <p:nvSpPr>
          <p:cNvPr id="18" name="Text 13"/>
          <p:cNvSpPr/>
          <p:nvPr/>
        </p:nvSpPr>
        <p:spPr>
          <a:xfrm>
            <a:off x="9791581" y="3188018"/>
            <a:ext cx="3962043" cy="990838"/>
          </a:xfrm>
          <a:prstGeom prst="rect">
            <a:avLst/>
          </a:prstGeom>
          <a:noFill/>
          <a:ln/>
        </p:spPr>
        <p:txBody>
          <a:bodyPr wrap="square" lIns="0" tIns="0" rIns="0" bIns="0" rtlCol="0" anchor="t"/>
          <a:lstStyle/>
          <a:p>
            <a:pPr marL="0" indent="0" algn="l">
              <a:lnSpc>
                <a:spcPts val="2600"/>
              </a:lnSpc>
              <a:buNone/>
            </a:pPr>
            <a:r>
              <a:rPr lang="en-US" sz="1600" dirty="0">
                <a:solidFill>
                  <a:srgbClr val="BFBFBF"/>
                </a:solidFill>
                <a:latin typeface="Open Sans" pitchFamily="34" charset="0"/>
                <a:ea typeface="Open Sans" pitchFamily="34" charset="-122"/>
                <a:cs typeface="Open Sans" pitchFamily="34" charset="-120"/>
              </a:rPr>
              <a:t>Recherche de films via OMDB API et import en 1 clic avec pré-remplissage et auto-création de réalisateurs.</a:t>
            </a:r>
            <a:endParaRPr lang="en-US" sz="1600" dirty="0"/>
          </a:p>
        </p:txBody>
      </p:sp>
      <p:sp>
        <p:nvSpPr>
          <p:cNvPr id="19" name="Shape 14"/>
          <p:cNvSpPr/>
          <p:nvPr/>
        </p:nvSpPr>
        <p:spPr>
          <a:xfrm>
            <a:off x="711518" y="4509135"/>
            <a:ext cx="6521053" cy="2008584"/>
          </a:xfrm>
          <a:prstGeom prst="roundRect">
            <a:avLst>
              <a:gd name="adj" fmla="val 1234"/>
            </a:avLst>
          </a:prstGeom>
          <a:solidFill>
            <a:srgbClr val="3E3E3E"/>
          </a:solidFill>
          <a:ln/>
        </p:spPr>
      </p:sp>
      <p:sp>
        <p:nvSpPr>
          <p:cNvPr id="20" name="Shape 15"/>
          <p:cNvSpPr/>
          <p:nvPr/>
        </p:nvSpPr>
        <p:spPr>
          <a:xfrm>
            <a:off x="876657" y="4674275"/>
            <a:ext cx="495538" cy="495538"/>
          </a:xfrm>
          <a:prstGeom prst="roundRect">
            <a:avLst>
              <a:gd name="adj" fmla="val 18450826"/>
            </a:avLst>
          </a:prstGeom>
          <a:solidFill>
            <a:srgbClr val="F5F547"/>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2984" y="4810482"/>
            <a:ext cx="222885" cy="222885"/>
          </a:xfrm>
          <a:prstGeom prst="rect">
            <a:avLst/>
          </a:prstGeom>
        </p:spPr>
      </p:pic>
      <p:sp>
        <p:nvSpPr>
          <p:cNvPr id="22" name="Text 16"/>
          <p:cNvSpPr/>
          <p:nvPr/>
        </p:nvSpPr>
        <p:spPr>
          <a:xfrm>
            <a:off x="876657" y="5334953"/>
            <a:ext cx="2115383" cy="258008"/>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Édition &amp; Suppression</a:t>
            </a:r>
            <a:endParaRPr lang="en-US" sz="1600" dirty="0"/>
          </a:p>
        </p:txBody>
      </p:sp>
      <p:sp>
        <p:nvSpPr>
          <p:cNvPr id="23" name="Text 17"/>
          <p:cNvSpPr/>
          <p:nvPr/>
        </p:nvSpPr>
        <p:spPr>
          <a:xfrm>
            <a:off x="876657" y="5692021"/>
            <a:ext cx="6190774" cy="660559"/>
          </a:xfrm>
          <a:prstGeom prst="rect">
            <a:avLst/>
          </a:prstGeom>
          <a:noFill/>
          <a:ln/>
        </p:spPr>
        <p:txBody>
          <a:bodyPr wrap="square" lIns="0" tIns="0" rIns="0" bIns="0" rtlCol="0" anchor="t"/>
          <a:lstStyle/>
          <a:p>
            <a:pPr marL="0" indent="0" algn="l">
              <a:lnSpc>
                <a:spcPts val="2600"/>
              </a:lnSpc>
              <a:buNone/>
            </a:pPr>
            <a:r>
              <a:rPr lang="en-US" sz="1600" dirty="0">
                <a:solidFill>
                  <a:srgbClr val="BFBFBF"/>
                </a:solidFill>
                <a:latin typeface="Open Sans" pitchFamily="34" charset="0"/>
                <a:ea typeface="Open Sans" pitchFamily="34" charset="-122"/>
                <a:cs typeface="Open Sans" pitchFamily="34" charset="-120"/>
              </a:rPr>
              <a:t>Modification des données directement dans la liste et suppression avec confirmation pour éviter les erreurs.</a:t>
            </a:r>
            <a:endParaRPr lang="en-US" sz="1600" dirty="0"/>
          </a:p>
        </p:txBody>
      </p:sp>
      <p:sp>
        <p:nvSpPr>
          <p:cNvPr id="24" name="Shape 18"/>
          <p:cNvSpPr/>
          <p:nvPr/>
        </p:nvSpPr>
        <p:spPr>
          <a:xfrm>
            <a:off x="7397710" y="4509135"/>
            <a:ext cx="6521053" cy="2008584"/>
          </a:xfrm>
          <a:prstGeom prst="roundRect">
            <a:avLst>
              <a:gd name="adj" fmla="val 1234"/>
            </a:avLst>
          </a:prstGeom>
          <a:solidFill>
            <a:srgbClr val="3E3E3E"/>
          </a:solidFill>
          <a:ln/>
        </p:spPr>
      </p:sp>
      <p:sp>
        <p:nvSpPr>
          <p:cNvPr id="25" name="Shape 19"/>
          <p:cNvSpPr/>
          <p:nvPr/>
        </p:nvSpPr>
        <p:spPr>
          <a:xfrm>
            <a:off x="7562850" y="4674275"/>
            <a:ext cx="495538" cy="495538"/>
          </a:xfrm>
          <a:prstGeom prst="roundRect">
            <a:avLst>
              <a:gd name="adj" fmla="val 18450826"/>
            </a:avLst>
          </a:prstGeom>
          <a:solidFill>
            <a:srgbClr val="F5F547"/>
          </a:solidFill>
          <a:ln/>
        </p:spPr>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99177" y="4810482"/>
            <a:ext cx="222885" cy="222885"/>
          </a:xfrm>
          <a:prstGeom prst="rect">
            <a:avLst/>
          </a:prstGeom>
        </p:spPr>
      </p:pic>
      <p:sp>
        <p:nvSpPr>
          <p:cNvPr id="27" name="Text 20"/>
          <p:cNvSpPr/>
          <p:nvPr/>
        </p:nvSpPr>
        <p:spPr>
          <a:xfrm>
            <a:off x="7562850" y="5334953"/>
            <a:ext cx="2087999" cy="258008"/>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Sécurité des Données</a:t>
            </a:r>
            <a:endParaRPr lang="en-US" sz="1600" dirty="0"/>
          </a:p>
        </p:txBody>
      </p:sp>
      <p:sp>
        <p:nvSpPr>
          <p:cNvPr id="28" name="Text 21"/>
          <p:cNvSpPr/>
          <p:nvPr/>
        </p:nvSpPr>
        <p:spPr>
          <a:xfrm>
            <a:off x="7562850" y="5692021"/>
            <a:ext cx="6190774" cy="660559"/>
          </a:xfrm>
          <a:prstGeom prst="rect">
            <a:avLst/>
          </a:prstGeom>
          <a:noFill/>
          <a:ln/>
        </p:spPr>
        <p:txBody>
          <a:bodyPr wrap="square" lIns="0" tIns="0" rIns="0" bIns="0" rtlCol="0" anchor="t"/>
          <a:lstStyle/>
          <a:p>
            <a:pPr marL="0" indent="0" algn="l">
              <a:lnSpc>
                <a:spcPts val="2600"/>
              </a:lnSpc>
              <a:buNone/>
            </a:pPr>
            <a:r>
              <a:rPr lang="en-US" sz="1600" dirty="0">
                <a:solidFill>
                  <a:srgbClr val="BFBFBF"/>
                </a:solidFill>
                <a:latin typeface="Open Sans" pitchFamily="34" charset="0"/>
                <a:ea typeface="Open Sans" pitchFamily="34" charset="-122"/>
                <a:cs typeface="Open Sans" pitchFamily="34" charset="-120"/>
              </a:rPr>
              <a:t>Protection contre la suppression de réalisateurs liés à des films et persistance des données localement.</a:t>
            </a:r>
            <a:endParaRPr lang="en-US" sz="1600" dirty="0"/>
          </a:p>
        </p:txBody>
      </p:sp>
      <p:sp>
        <p:nvSpPr>
          <p:cNvPr id="29" name="Text 22"/>
          <p:cNvSpPr/>
          <p:nvPr/>
        </p:nvSpPr>
        <p:spPr>
          <a:xfrm>
            <a:off x="711518" y="6703457"/>
            <a:ext cx="13207365" cy="660559"/>
          </a:xfrm>
          <a:prstGeom prst="rect">
            <a:avLst/>
          </a:prstGeom>
          <a:noFill/>
          <a:ln/>
        </p:spPr>
        <p:txBody>
          <a:bodyPr wrap="square" lIns="0" tIns="0" rIns="0" bIns="0" rtlCol="0" anchor="t"/>
          <a:lstStyle/>
          <a:p>
            <a:pPr marL="0" indent="0" algn="l">
              <a:lnSpc>
                <a:spcPts val="2600"/>
              </a:lnSpc>
              <a:buNone/>
            </a:pPr>
            <a:r>
              <a:rPr lang="en-US" sz="1600" dirty="0">
                <a:solidFill>
                  <a:srgbClr val="BFBFBF"/>
                </a:solidFill>
                <a:latin typeface="Open Sans" pitchFamily="34" charset="0"/>
                <a:ea typeface="Open Sans" pitchFamily="34" charset="-122"/>
                <a:cs typeface="Open Sans" pitchFamily="34" charset="-120"/>
              </a:rPr>
              <a:t>Ces fonctionnalités garantissent une gestion complète et sécurisée des informations cinématographiques, offrant une expérience utilisateur fluide et intuitive.</a:t>
            </a:r>
            <a:endParaRPr lang="en-US" sz="1600" dirty="0"/>
          </a:p>
        </p:txBody>
      </p:sp>
      <p:sp>
        <p:nvSpPr>
          <p:cNvPr id="31" name="Rectangle 30">
            <a:extLst>
              <a:ext uri="{FF2B5EF4-FFF2-40B4-BE49-F238E27FC236}">
                <a16:creationId xmlns:a16="http://schemas.microsoft.com/office/drawing/2014/main" id="{1A264DCE-FBCC-41D5-0A9E-F92CF6E1E08F}"/>
              </a:ext>
            </a:extLst>
          </p:cNvPr>
          <p:cNvSpPr/>
          <p:nvPr/>
        </p:nvSpPr>
        <p:spPr>
          <a:xfrm>
            <a:off x="12862409" y="7682812"/>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935742" y="620578"/>
            <a:ext cx="3136821" cy="325874"/>
          </a:xfrm>
          <a:prstGeom prst="rect">
            <a:avLst/>
          </a:prstGeom>
          <a:noFill/>
          <a:ln/>
        </p:spPr>
        <p:txBody>
          <a:bodyPr wrap="none" lIns="0" tIns="0" rIns="0" bIns="0" rtlCol="0" anchor="t"/>
          <a:lstStyle/>
          <a:p>
            <a:pPr marL="0" indent="0" algn="l">
              <a:lnSpc>
                <a:spcPts val="2550"/>
              </a:lnSpc>
              <a:buNone/>
            </a:pPr>
            <a:r>
              <a:rPr lang="en-US" sz="2400" dirty="0">
                <a:solidFill>
                  <a:srgbClr val="FEFEFE"/>
                </a:solidFill>
                <a:latin typeface="Instrument Sans Medium" pitchFamily="34" charset="0"/>
                <a:ea typeface="Instrument Sans Medium" pitchFamily="34" charset="-122"/>
                <a:cs typeface="Instrument Sans Medium" pitchFamily="34" charset="-120"/>
              </a:rPr>
              <a:t>Dashboard en Temps Réel</a:t>
            </a:r>
            <a:endParaRPr lang="en-US" sz="2400" dirty="0"/>
          </a:p>
        </p:txBody>
      </p:sp>
      <p:sp>
        <p:nvSpPr>
          <p:cNvPr id="4" name="Text 1"/>
          <p:cNvSpPr/>
          <p:nvPr/>
        </p:nvSpPr>
        <p:spPr>
          <a:xfrm>
            <a:off x="5935742" y="1380985"/>
            <a:ext cx="8850433" cy="168257"/>
          </a:xfrm>
          <a:prstGeom prst="rect">
            <a:avLst/>
          </a:prstGeom>
          <a:noFill/>
          <a:ln/>
        </p:spPr>
        <p:txBody>
          <a:bodyPr wrap="none" lIns="0" tIns="0" rIns="0" bIns="0" rtlCol="0" anchor="t"/>
          <a:lstStyle/>
          <a:p>
            <a:pPr marL="0" indent="0" algn="l">
              <a:lnSpc>
                <a:spcPts val="1600"/>
              </a:lnSpc>
              <a:buNone/>
            </a:pPr>
            <a:r>
              <a:rPr lang="en-US" sz="1600" dirty="0">
                <a:solidFill>
                  <a:srgbClr val="BFBFBF"/>
                </a:solidFill>
                <a:latin typeface="Open Sans"/>
                <a:ea typeface="Open Sans"/>
                <a:cs typeface="Open Sans"/>
              </a:rPr>
              <a:t>Le Dashboard offre une vue d'ensemble instantanée et dynamique de la collection de films.</a:t>
            </a:r>
            <a:endParaRPr lang="en-US" sz="1600">
              <a:latin typeface="Calibri"/>
              <a:ea typeface="Calibri"/>
              <a:cs typeface="Calibri"/>
            </a:endParaRPr>
          </a:p>
        </p:txBody>
      </p:sp>
      <p:sp>
        <p:nvSpPr>
          <p:cNvPr id="5" name="Text 2"/>
          <p:cNvSpPr/>
          <p:nvPr/>
        </p:nvSpPr>
        <p:spPr>
          <a:xfrm>
            <a:off x="5935742" y="1918734"/>
            <a:ext cx="1981577" cy="222395"/>
          </a:xfrm>
          <a:prstGeom prst="rect">
            <a:avLst/>
          </a:prstGeom>
          <a:noFill/>
          <a:ln/>
        </p:spPr>
        <p:txBody>
          <a:bodyPr wrap="none" lIns="0" tIns="0" rIns="0" bIns="0" rtlCol="0" anchor="t"/>
          <a:lstStyle/>
          <a:p>
            <a:pPr marL="0" indent="0" algn="l">
              <a:lnSpc>
                <a:spcPts val="1500"/>
              </a:lnSpc>
              <a:buNone/>
            </a:pPr>
            <a:r>
              <a:rPr lang="en-US" sz="1600" dirty="0">
                <a:solidFill>
                  <a:srgbClr val="FEFEFE"/>
                </a:solidFill>
                <a:latin typeface="Instrument Sans Medium"/>
                <a:ea typeface="Instrument Sans Medium" pitchFamily="34" charset="-122"/>
                <a:cs typeface="Instrument Sans Medium" pitchFamily="34" charset="-120"/>
              </a:rPr>
              <a:t>4 KPI Dynamiques</a:t>
            </a:r>
            <a:endParaRPr lang="en-US" sz="1600">
              <a:latin typeface="Instrument Sans Medium"/>
              <a:ea typeface="Calibri"/>
              <a:cs typeface="Calibri"/>
            </a:endParaRPr>
          </a:p>
        </p:txBody>
      </p:sp>
      <p:sp>
        <p:nvSpPr>
          <p:cNvPr id="6" name="Text 3"/>
          <p:cNvSpPr/>
          <p:nvPr/>
        </p:nvSpPr>
        <p:spPr>
          <a:xfrm>
            <a:off x="5935742" y="2135743"/>
            <a:ext cx="3995499" cy="344210"/>
          </a:xfrm>
          <a:prstGeom prst="rect">
            <a:avLst/>
          </a:prstGeom>
          <a:noFill/>
          <a:ln/>
        </p:spPr>
        <p:txBody>
          <a:bodyPr wrap="none" lIns="0" tIns="0" rIns="0" bIns="0" rtlCol="0" anchor="t"/>
          <a:lstStyle/>
          <a:p>
            <a:pPr marL="0" indent="0" algn="ctr">
              <a:lnSpc>
                <a:spcPts val="2700"/>
              </a:lnSpc>
              <a:buNone/>
            </a:pPr>
            <a:r>
              <a:rPr lang="en-US" sz="2800" b="1" dirty="0">
                <a:solidFill>
                  <a:srgbClr val="BFBFBF"/>
                </a:solidFill>
                <a:latin typeface="Instrument Sans Medium"/>
                <a:ea typeface="Instrument Sans Medium" pitchFamily="34" charset="-122"/>
                <a:cs typeface="Instrument Sans Medium" pitchFamily="34" charset="-120"/>
              </a:rPr>
              <a:t>16</a:t>
            </a:r>
            <a:endParaRPr lang="en-US" sz="2800" b="1">
              <a:latin typeface="Instrument Sans Medium"/>
              <a:ea typeface="Calibri"/>
              <a:cs typeface="Calibri"/>
            </a:endParaRPr>
          </a:p>
        </p:txBody>
      </p:sp>
      <p:sp>
        <p:nvSpPr>
          <p:cNvPr id="7" name="Text 4"/>
          <p:cNvSpPr/>
          <p:nvPr/>
        </p:nvSpPr>
        <p:spPr>
          <a:xfrm>
            <a:off x="7281505" y="2610326"/>
            <a:ext cx="1303973" cy="162878"/>
          </a:xfrm>
          <a:prstGeom prst="rect">
            <a:avLst/>
          </a:prstGeom>
          <a:noFill/>
          <a:ln/>
        </p:spPr>
        <p:txBody>
          <a:bodyPr wrap="none" lIns="0" tIns="0" rIns="0" bIns="0" rtlCol="0" anchor="t"/>
          <a:lstStyle/>
          <a:p>
            <a:pPr marL="0" indent="0" algn="ctr">
              <a:lnSpc>
                <a:spcPts val="1250"/>
              </a:lnSpc>
              <a:buNone/>
            </a:pPr>
            <a:r>
              <a:rPr lang="en-US" sz="1600" dirty="0">
                <a:solidFill>
                  <a:srgbClr val="BFBFBF"/>
                </a:solidFill>
                <a:latin typeface="Instrument Sans Medium"/>
                <a:ea typeface="Instrument Sans Medium" pitchFamily="34" charset="-122"/>
                <a:cs typeface="Instrument Sans Medium" pitchFamily="34" charset="-120"/>
              </a:rPr>
              <a:t>Total Films</a:t>
            </a:r>
            <a:endParaRPr lang="en-US" sz="1600">
              <a:latin typeface="Instrument Sans Medium"/>
              <a:ea typeface="Calibri" panose="020F0502020204030204"/>
              <a:cs typeface="Calibri" panose="020F0502020204030204"/>
            </a:endParaRPr>
          </a:p>
        </p:txBody>
      </p:sp>
      <p:sp>
        <p:nvSpPr>
          <p:cNvPr id="8" name="Text 5"/>
          <p:cNvSpPr/>
          <p:nvPr/>
        </p:nvSpPr>
        <p:spPr>
          <a:xfrm>
            <a:off x="5935742" y="2877503"/>
            <a:ext cx="3995499" cy="208598"/>
          </a:xfrm>
          <a:prstGeom prst="rect">
            <a:avLst/>
          </a:prstGeom>
          <a:noFill/>
          <a:ln/>
        </p:spPr>
        <p:txBody>
          <a:bodyPr wrap="none" lIns="0" tIns="0" rIns="0" bIns="0" rtlCol="0" anchor="t"/>
          <a:lstStyle/>
          <a:p>
            <a:pPr marL="0" indent="0" algn="ctr">
              <a:lnSpc>
                <a:spcPts val="1600"/>
              </a:lnSpc>
              <a:buNone/>
            </a:pPr>
            <a:r>
              <a:rPr lang="en-US" sz="1600" dirty="0">
                <a:solidFill>
                  <a:srgbClr val="BFBFBF"/>
                </a:solidFill>
                <a:latin typeface="Open Sans"/>
                <a:ea typeface="Open Sans"/>
                <a:cs typeface="Open Sans"/>
              </a:rPr>
              <a:t>Nombre de films dans la base.</a:t>
            </a:r>
            <a:endParaRPr lang="en-US" sz="1600">
              <a:latin typeface="Calibri"/>
              <a:ea typeface="Calibri"/>
              <a:cs typeface="Calibri"/>
            </a:endParaRPr>
          </a:p>
        </p:txBody>
      </p:sp>
      <p:sp>
        <p:nvSpPr>
          <p:cNvPr id="9" name="Text 6"/>
          <p:cNvSpPr/>
          <p:nvPr/>
        </p:nvSpPr>
        <p:spPr>
          <a:xfrm>
            <a:off x="5935742" y="3346847"/>
            <a:ext cx="3995499" cy="344210"/>
          </a:xfrm>
          <a:prstGeom prst="rect">
            <a:avLst/>
          </a:prstGeom>
          <a:noFill/>
          <a:ln/>
        </p:spPr>
        <p:txBody>
          <a:bodyPr wrap="none" lIns="0" tIns="0" rIns="0" bIns="0" rtlCol="0" anchor="t"/>
          <a:lstStyle/>
          <a:p>
            <a:pPr marL="0" indent="0" algn="ctr">
              <a:lnSpc>
                <a:spcPts val="2700"/>
              </a:lnSpc>
              <a:buNone/>
            </a:pPr>
            <a:r>
              <a:rPr lang="en-US" sz="2800" b="1" dirty="0">
                <a:solidFill>
                  <a:srgbClr val="BFBFBF"/>
                </a:solidFill>
                <a:latin typeface="Instrument Sans Medium"/>
                <a:ea typeface="Instrument Sans Medium" pitchFamily="34" charset="-122"/>
                <a:cs typeface="Instrument Sans Medium" pitchFamily="34" charset="-120"/>
              </a:rPr>
              <a:t>8.3/10</a:t>
            </a:r>
            <a:endParaRPr lang="en-US" sz="2800" b="1">
              <a:latin typeface="Instrument Sans Medium"/>
              <a:ea typeface="Calibri"/>
              <a:cs typeface="Calibri"/>
            </a:endParaRPr>
          </a:p>
        </p:txBody>
      </p:sp>
      <p:sp>
        <p:nvSpPr>
          <p:cNvPr id="10" name="Text 7"/>
          <p:cNvSpPr/>
          <p:nvPr/>
        </p:nvSpPr>
        <p:spPr>
          <a:xfrm>
            <a:off x="7281505" y="3821430"/>
            <a:ext cx="1303973" cy="162878"/>
          </a:xfrm>
          <a:prstGeom prst="rect">
            <a:avLst/>
          </a:prstGeom>
          <a:noFill/>
          <a:ln/>
        </p:spPr>
        <p:txBody>
          <a:bodyPr wrap="none" lIns="0" tIns="0" rIns="0" bIns="0" rtlCol="0" anchor="t"/>
          <a:lstStyle/>
          <a:p>
            <a:pPr marL="0" indent="0" algn="ctr">
              <a:lnSpc>
                <a:spcPts val="1250"/>
              </a:lnSpc>
              <a:buNone/>
            </a:pPr>
            <a:r>
              <a:rPr lang="en-US" sz="1600" dirty="0">
                <a:solidFill>
                  <a:srgbClr val="BFBFBF"/>
                </a:solidFill>
                <a:latin typeface="Instrument Sans Medium"/>
                <a:ea typeface="Instrument Sans Medium" pitchFamily="34" charset="-122"/>
                <a:cs typeface="Instrument Sans Medium" pitchFamily="34" charset="-120"/>
              </a:rPr>
              <a:t>Note Moyenne</a:t>
            </a:r>
            <a:endParaRPr lang="en-US" sz="1600">
              <a:latin typeface="Instrument Sans Medium"/>
              <a:ea typeface="Calibri"/>
              <a:cs typeface="Calibri"/>
            </a:endParaRPr>
          </a:p>
        </p:txBody>
      </p:sp>
      <p:sp>
        <p:nvSpPr>
          <p:cNvPr id="11" name="Text 8"/>
          <p:cNvSpPr/>
          <p:nvPr/>
        </p:nvSpPr>
        <p:spPr>
          <a:xfrm>
            <a:off x="5935742" y="4088606"/>
            <a:ext cx="3995499" cy="208598"/>
          </a:xfrm>
          <a:prstGeom prst="rect">
            <a:avLst/>
          </a:prstGeom>
          <a:noFill/>
          <a:ln/>
        </p:spPr>
        <p:txBody>
          <a:bodyPr wrap="none" lIns="0" tIns="0" rIns="0" bIns="0" rtlCol="0" anchor="t"/>
          <a:lstStyle/>
          <a:p>
            <a:pPr marL="0" indent="0" algn="ctr">
              <a:lnSpc>
                <a:spcPts val="1600"/>
              </a:lnSpc>
              <a:buNone/>
            </a:pPr>
            <a:r>
              <a:rPr lang="en-US" sz="1600" dirty="0">
                <a:solidFill>
                  <a:srgbClr val="BFBFBF"/>
                </a:solidFill>
                <a:latin typeface="Open Sans"/>
                <a:ea typeface="Open Sans"/>
                <a:cs typeface="Open Sans"/>
              </a:rPr>
              <a:t>Moyenne calculée automatiquement.</a:t>
            </a:r>
            <a:endParaRPr lang="en-US" sz="1600">
              <a:latin typeface="Calibri"/>
              <a:ea typeface="Calibri"/>
              <a:cs typeface="Calibri"/>
            </a:endParaRPr>
          </a:p>
        </p:txBody>
      </p:sp>
      <p:sp>
        <p:nvSpPr>
          <p:cNvPr id="12" name="Text 9"/>
          <p:cNvSpPr/>
          <p:nvPr/>
        </p:nvSpPr>
        <p:spPr>
          <a:xfrm>
            <a:off x="5935742" y="4557951"/>
            <a:ext cx="3995499" cy="344210"/>
          </a:xfrm>
          <a:prstGeom prst="rect">
            <a:avLst/>
          </a:prstGeom>
          <a:noFill/>
          <a:ln/>
        </p:spPr>
        <p:txBody>
          <a:bodyPr wrap="none" lIns="0" tIns="0" rIns="0" bIns="0" rtlCol="0" anchor="t"/>
          <a:lstStyle/>
          <a:p>
            <a:pPr marL="0" indent="0" algn="ctr">
              <a:lnSpc>
                <a:spcPts val="2700"/>
              </a:lnSpc>
              <a:buNone/>
            </a:pPr>
            <a:r>
              <a:rPr lang="en-US" sz="2800" b="1" dirty="0">
                <a:solidFill>
                  <a:srgbClr val="BFBFBF"/>
                </a:solidFill>
                <a:latin typeface="Instrument Sans Medium"/>
                <a:ea typeface="Instrument Sans Medium" pitchFamily="34" charset="-122"/>
                <a:cs typeface="Instrument Sans Medium" pitchFamily="34" charset="-120"/>
              </a:rPr>
              <a:t>13+</a:t>
            </a:r>
            <a:endParaRPr lang="en-US" sz="2800" b="1">
              <a:latin typeface="Instrument Sans Medium"/>
              <a:ea typeface="Calibri"/>
              <a:cs typeface="Calibri"/>
            </a:endParaRPr>
          </a:p>
        </p:txBody>
      </p:sp>
      <p:sp>
        <p:nvSpPr>
          <p:cNvPr id="13" name="Text 10"/>
          <p:cNvSpPr/>
          <p:nvPr/>
        </p:nvSpPr>
        <p:spPr>
          <a:xfrm>
            <a:off x="7281505" y="5032534"/>
            <a:ext cx="1303973" cy="162878"/>
          </a:xfrm>
          <a:prstGeom prst="rect">
            <a:avLst/>
          </a:prstGeom>
          <a:noFill/>
          <a:ln/>
        </p:spPr>
        <p:txBody>
          <a:bodyPr wrap="none" lIns="0" tIns="0" rIns="0" bIns="0" rtlCol="0" anchor="t"/>
          <a:lstStyle/>
          <a:p>
            <a:pPr marL="0" indent="0" algn="ctr">
              <a:lnSpc>
                <a:spcPts val="1250"/>
              </a:lnSpc>
              <a:buNone/>
            </a:pPr>
            <a:r>
              <a:rPr lang="en-US" sz="1600" dirty="0">
                <a:solidFill>
                  <a:srgbClr val="BFBFBF"/>
                </a:solidFill>
                <a:latin typeface="Instrument Sans Medium"/>
                <a:ea typeface="Instrument Sans Medium" pitchFamily="34" charset="-122"/>
                <a:cs typeface="Instrument Sans Medium" pitchFamily="34" charset="-120"/>
              </a:rPr>
              <a:t>Total Réalisateurs</a:t>
            </a:r>
            <a:endParaRPr lang="en-US" sz="1600">
              <a:latin typeface="Instrument Sans Medium"/>
              <a:ea typeface="Calibri"/>
              <a:cs typeface="Calibri"/>
            </a:endParaRPr>
          </a:p>
        </p:txBody>
      </p:sp>
      <p:sp>
        <p:nvSpPr>
          <p:cNvPr id="14" name="Text 11"/>
          <p:cNvSpPr/>
          <p:nvPr/>
        </p:nvSpPr>
        <p:spPr>
          <a:xfrm>
            <a:off x="5935742" y="5299710"/>
            <a:ext cx="3995499" cy="208598"/>
          </a:xfrm>
          <a:prstGeom prst="rect">
            <a:avLst/>
          </a:prstGeom>
          <a:noFill/>
          <a:ln/>
        </p:spPr>
        <p:txBody>
          <a:bodyPr wrap="none" lIns="0" tIns="0" rIns="0" bIns="0" rtlCol="0" anchor="t"/>
          <a:lstStyle/>
          <a:p>
            <a:pPr marL="0" indent="0" algn="ctr">
              <a:lnSpc>
                <a:spcPts val="1600"/>
              </a:lnSpc>
              <a:buNone/>
            </a:pPr>
            <a:r>
              <a:rPr lang="en-US" sz="1600" dirty="0">
                <a:solidFill>
                  <a:srgbClr val="BFBFBF"/>
                </a:solidFill>
                <a:latin typeface="Open Sans"/>
                <a:ea typeface="Open Sans"/>
                <a:cs typeface="Open Sans"/>
              </a:rPr>
              <a:t>Nombre de réalisateurs actifs.</a:t>
            </a:r>
            <a:endParaRPr lang="en-US" sz="1600">
              <a:latin typeface="Open Sans"/>
              <a:ea typeface="Open Sans"/>
              <a:cs typeface="Open Sans"/>
            </a:endParaRPr>
          </a:p>
        </p:txBody>
      </p:sp>
      <p:sp>
        <p:nvSpPr>
          <p:cNvPr id="15" name="Text 12"/>
          <p:cNvSpPr/>
          <p:nvPr/>
        </p:nvSpPr>
        <p:spPr>
          <a:xfrm>
            <a:off x="5935742" y="5769054"/>
            <a:ext cx="3995499" cy="344210"/>
          </a:xfrm>
          <a:prstGeom prst="rect">
            <a:avLst/>
          </a:prstGeom>
          <a:noFill/>
          <a:ln/>
        </p:spPr>
        <p:txBody>
          <a:bodyPr wrap="none" lIns="0" tIns="0" rIns="0" bIns="0" rtlCol="0" anchor="t"/>
          <a:lstStyle/>
          <a:p>
            <a:pPr marL="0" indent="0" algn="ctr">
              <a:lnSpc>
                <a:spcPts val="2700"/>
              </a:lnSpc>
              <a:buNone/>
            </a:pPr>
            <a:r>
              <a:rPr lang="en-US" sz="2800" b="1" dirty="0">
                <a:solidFill>
                  <a:srgbClr val="BFBFBF"/>
                </a:solidFill>
                <a:latin typeface="Instrument Sans Medium"/>
                <a:ea typeface="Instrument Sans Medium" pitchFamily="34" charset="-122"/>
                <a:cs typeface="Instrument Sans Medium" pitchFamily="34" charset="-120"/>
              </a:rPr>
              <a:t>Action</a:t>
            </a:r>
            <a:endParaRPr lang="en-US" sz="2800" b="1" dirty="0">
              <a:latin typeface="Instrument Sans Medium"/>
            </a:endParaRPr>
          </a:p>
        </p:txBody>
      </p:sp>
      <p:sp>
        <p:nvSpPr>
          <p:cNvPr id="16" name="Text 13"/>
          <p:cNvSpPr/>
          <p:nvPr/>
        </p:nvSpPr>
        <p:spPr>
          <a:xfrm>
            <a:off x="7187375" y="6364661"/>
            <a:ext cx="1505679" cy="55302"/>
          </a:xfrm>
          <a:prstGeom prst="rect">
            <a:avLst/>
          </a:prstGeom>
          <a:noFill/>
          <a:ln/>
        </p:spPr>
        <p:txBody>
          <a:bodyPr wrap="none" lIns="0" tIns="0" rIns="0" bIns="0" rtlCol="0" anchor="t"/>
          <a:lstStyle/>
          <a:p>
            <a:pPr marL="0" indent="0" algn="ctr">
              <a:lnSpc>
                <a:spcPts val="1250"/>
              </a:lnSpc>
              <a:buNone/>
            </a:pPr>
            <a:r>
              <a:rPr lang="en-US" sz="1600" dirty="0">
                <a:solidFill>
                  <a:srgbClr val="BFBFBF"/>
                </a:solidFill>
                <a:latin typeface="Instrument Sans Medium"/>
                <a:ea typeface="Instrument Sans Medium" pitchFamily="34" charset="-122"/>
                <a:cs typeface="Instrument Sans Medium" pitchFamily="34" charset="-120"/>
              </a:rPr>
              <a:t>Meilleur Genre</a:t>
            </a:r>
            <a:endParaRPr lang="en-US" sz="1600">
              <a:latin typeface="Instrument Sans Medium"/>
              <a:ea typeface="Calibri"/>
              <a:cs typeface="Calibri"/>
            </a:endParaRPr>
          </a:p>
        </p:txBody>
      </p:sp>
      <p:sp>
        <p:nvSpPr>
          <p:cNvPr id="17" name="Text 14"/>
          <p:cNvSpPr/>
          <p:nvPr/>
        </p:nvSpPr>
        <p:spPr>
          <a:xfrm>
            <a:off x="5935742" y="6658731"/>
            <a:ext cx="3995499" cy="208598"/>
          </a:xfrm>
          <a:prstGeom prst="rect">
            <a:avLst/>
          </a:prstGeom>
          <a:noFill/>
          <a:ln/>
        </p:spPr>
        <p:txBody>
          <a:bodyPr wrap="none" lIns="0" tIns="0" rIns="0" bIns="0" rtlCol="0" anchor="t"/>
          <a:lstStyle/>
          <a:p>
            <a:pPr marL="0" indent="0" algn="ctr">
              <a:lnSpc>
                <a:spcPts val="1600"/>
              </a:lnSpc>
              <a:buNone/>
            </a:pPr>
            <a:r>
              <a:rPr lang="en-US" sz="1600" dirty="0">
                <a:solidFill>
                  <a:srgbClr val="BFBFBF"/>
                </a:solidFill>
                <a:latin typeface="Open Sans"/>
                <a:ea typeface="Open Sans"/>
                <a:cs typeface="Open Sans"/>
              </a:rPr>
              <a:t>Genre le plus représenté dans la collection.</a:t>
            </a:r>
            <a:endParaRPr lang="en-US" sz="1600">
              <a:latin typeface="Calibri"/>
              <a:ea typeface="Calibri"/>
              <a:cs typeface="Calibri"/>
            </a:endParaRPr>
          </a:p>
        </p:txBody>
      </p:sp>
      <p:sp>
        <p:nvSpPr>
          <p:cNvPr id="18" name="Text 15"/>
          <p:cNvSpPr/>
          <p:nvPr/>
        </p:nvSpPr>
        <p:spPr>
          <a:xfrm>
            <a:off x="10193179" y="1770817"/>
            <a:ext cx="1727359" cy="195501"/>
          </a:xfrm>
          <a:prstGeom prst="rect">
            <a:avLst/>
          </a:prstGeom>
          <a:noFill/>
          <a:ln/>
        </p:spPr>
        <p:txBody>
          <a:bodyPr wrap="none" lIns="0" tIns="0" rIns="0" bIns="0" rtlCol="0" anchor="t"/>
          <a:lstStyle/>
          <a:p>
            <a:pPr marL="0" indent="0" algn="l">
              <a:lnSpc>
                <a:spcPts val="1500"/>
              </a:lnSpc>
              <a:buNone/>
            </a:pPr>
            <a:r>
              <a:rPr lang="en-US" sz="1600" dirty="0">
                <a:solidFill>
                  <a:srgbClr val="FEFEFE"/>
                </a:solidFill>
                <a:latin typeface="Instrument Sans Medium"/>
                <a:ea typeface="Instrument Sans Medium" pitchFamily="34" charset="-122"/>
                <a:cs typeface="Instrument Sans Medium" pitchFamily="34" charset="-120"/>
              </a:rPr>
              <a:t>2 Graphiques Interactifs</a:t>
            </a:r>
            <a:endParaRPr lang="en-US" sz="1600">
              <a:latin typeface="Instrument Sans Medium"/>
              <a:ea typeface="Calibri"/>
              <a:cs typeface="Calibri"/>
            </a:endParaRPr>
          </a:p>
        </p:txBody>
      </p:sp>
      <p:sp>
        <p:nvSpPr>
          <p:cNvPr id="19" name="Shape 16"/>
          <p:cNvSpPr/>
          <p:nvPr/>
        </p:nvSpPr>
        <p:spPr>
          <a:xfrm>
            <a:off x="10193179" y="2240042"/>
            <a:ext cx="3995499" cy="1064657"/>
          </a:xfrm>
          <a:prstGeom prst="roundRect">
            <a:avLst>
              <a:gd name="adj" fmla="val 6871"/>
            </a:avLst>
          </a:prstGeom>
          <a:solidFill>
            <a:srgbClr val="1F1F1F"/>
          </a:solidFill>
          <a:ln/>
        </p:spPr>
      </p:sp>
      <p:sp>
        <p:nvSpPr>
          <p:cNvPr id="20" name="Shape 17"/>
          <p:cNvSpPr/>
          <p:nvPr/>
        </p:nvSpPr>
        <p:spPr>
          <a:xfrm>
            <a:off x="10193179" y="2224802"/>
            <a:ext cx="3995499" cy="60960"/>
          </a:xfrm>
          <a:prstGeom prst="roundRect">
            <a:avLst>
              <a:gd name="adj" fmla="val 25669"/>
            </a:avLst>
          </a:prstGeom>
          <a:solidFill>
            <a:srgbClr val="F5F547"/>
          </a:solidFill>
          <a:ln/>
        </p:spPr>
      </p:sp>
      <p:sp>
        <p:nvSpPr>
          <p:cNvPr id="21" name="Shape 18"/>
          <p:cNvSpPr/>
          <p:nvPr/>
        </p:nvSpPr>
        <p:spPr>
          <a:xfrm>
            <a:off x="12034480" y="2083594"/>
            <a:ext cx="312896" cy="312896"/>
          </a:xfrm>
          <a:prstGeom prst="roundRect">
            <a:avLst>
              <a:gd name="adj" fmla="val 292238"/>
            </a:avLst>
          </a:prstGeom>
          <a:solidFill>
            <a:srgbClr val="F5F547"/>
          </a:solidFill>
          <a:ln/>
        </p:spPr>
      </p:sp>
      <p:pic>
        <p:nvPicPr>
          <p:cNvPr id="2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28302" y="2177415"/>
            <a:ext cx="125135" cy="125135"/>
          </a:xfrm>
          <a:prstGeom prst="rect">
            <a:avLst/>
          </a:prstGeom>
        </p:spPr>
      </p:pic>
      <p:sp>
        <p:nvSpPr>
          <p:cNvPr id="23" name="Text 19"/>
          <p:cNvSpPr/>
          <p:nvPr/>
        </p:nvSpPr>
        <p:spPr>
          <a:xfrm>
            <a:off x="10366506" y="2469054"/>
            <a:ext cx="2519451" cy="229575"/>
          </a:xfrm>
          <a:prstGeom prst="rect">
            <a:avLst/>
          </a:prstGeom>
          <a:noFill/>
          <a:ln/>
        </p:spPr>
        <p:txBody>
          <a:bodyPr wrap="none" lIns="0" tIns="0" rIns="0" bIns="0" rtlCol="0" anchor="t"/>
          <a:lstStyle/>
          <a:p>
            <a:pPr marL="0" indent="0" algn="l">
              <a:lnSpc>
                <a:spcPts val="1250"/>
              </a:lnSpc>
              <a:buNone/>
            </a:pPr>
            <a:r>
              <a:rPr lang="en-US" sz="1600" dirty="0">
                <a:solidFill>
                  <a:srgbClr val="BFBFBF"/>
                </a:solidFill>
                <a:latin typeface="Instrument Sans Medium"/>
                <a:ea typeface="Instrument Sans Medium" pitchFamily="34" charset="-122"/>
                <a:cs typeface="Instrument Sans Medium" pitchFamily="34" charset="-120"/>
              </a:rPr>
              <a:t>Répartition par Genre</a:t>
            </a:r>
            <a:endParaRPr lang="en-US" sz="1600">
              <a:latin typeface="Instrument Sans Medium"/>
            </a:endParaRPr>
          </a:p>
        </p:txBody>
      </p:sp>
      <p:sp>
        <p:nvSpPr>
          <p:cNvPr id="24" name="Text 20"/>
          <p:cNvSpPr/>
          <p:nvPr/>
        </p:nvSpPr>
        <p:spPr>
          <a:xfrm>
            <a:off x="10312718" y="2767965"/>
            <a:ext cx="3756422" cy="417195"/>
          </a:xfrm>
          <a:prstGeom prst="rect">
            <a:avLst/>
          </a:prstGeom>
          <a:noFill/>
          <a:ln/>
        </p:spPr>
        <p:txBody>
          <a:bodyPr wrap="square" lIns="0" tIns="0" rIns="0" bIns="0" rtlCol="0" anchor="t"/>
          <a:lstStyle/>
          <a:p>
            <a:pPr marL="0" indent="0" algn="l">
              <a:lnSpc>
                <a:spcPts val="1600"/>
              </a:lnSpc>
              <a:buNone/>
            </a:pPr>
            <a:r>
              <a:rPr lang="en-US" sz="1600" dirty="0">
                <a:solidFill>
                  <a:srgbClr val="BFBFBF"/>
                </a:solidFill>
                <a:latin typeface="Open Sans"/>
                <a:ea typeface="Open Sans"/>
                <a:cs typeface="Open Sans"/>
              </a:rPr>
              <a:t>Un graphique circulaire pour visualiser la distribution des genres avec des couleurs personnalisées.</a:t>
            </a:r>
            <a:endParaRPr lang="en-US" sz="1600">
              <a:latin typeface="Open Sans"/>
              <a:ea typeface="Open Sans"/>
              <a:cs typeface="Open Sans"/>
            </a:endParaRPr>
          </a:p>
        </p:txBody>
      </p:sp>
      <p:sp>
        <p:nvSpPr>
          <p:cNvPr id="25" name="Shape 21"/>
          <p:cNvSpPr/>
          <p:nvPr/>
        </p:nvSpPr>
        <p:spPr>
          <a:xfrm>
            <a:off x="10125944" y="3565446"/>
            <a:ext cx="3995499" cy="1064657"/>
          </a:xfrm>
          <a:prstGeom prst="roundRect">
            <a:avLst>
              <a:gd name="adj" fmla="val 6871"/>
            </a:avLst>
          </a:prstGeom>
          <a:solidFill>
            <a:srgbClr val="1F1F1F"/>
          </a:solidFill>
          <a:ln/>
        </p:spPr>
      </p:sp>
      <p:sp>
        <p:nvSpPr>
          <p:cNvPr id="26" name="Shape 22"/>
          <p:cNvSpPr/>
          <p:nvPr/>
        </p:nvSpPr>
        <p:spPr>
          <a:xfrm>
            <a:off x="10125944" y="3792253"/>
            <a:ext cx="3995499" cy="60960"/>
          </a:xfrm>
          <a:prstGeom prst="roundRect">
            <a:avLst>
              <a:gd name="adj" fmla="val 25669"/>
            </a:avLst>
          </a:prstGeom>
          <a:solidFill>
            <a:srgbClr val="F5F547"/>
          </a:solidFill>
          <a:ln/>
        </p:spPr>
      </p:sp>
      <p:sp>
        <p:nvSpPr>
          <p:cNvPr id="27" name="Shape 23"/>
          <p:cNvSpPr/>
          <p:nvPr/>
        </p:nvSpPr>
        <p:spPr>
          <a:xfrm>
            <a:off x="12034480" y="3677939"/>
            <a:ext cx="312896" cy="312896"/>
          </a:xfrm>
          <a:prstGeom prst="roundRect">
            <a:avLst>
              <a:gd name="adj" fmla="val 292238"/>
            </a:avLst>
          </a:prstGeom>
          <a:solidFill>
            <a:srgbClr val="F5F547"/>
          </a:solidFill>
          <a:ln/>
        </p:spPr>
      </p:sp>
      <p:pic>
        <p:nvPicPr>
          <p:cNvPr id="2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28302" y="3798654"/>
            <a:ext cx="125135" cy="125135"/>
          </a:xfrm>
          <a:prstGeom prst="rect">
            <a:avLst/>
          </a:prstGeom>
        </p:spPr>
      </p:pic>
      <p:sp>
        <p:nvSpPr>
          <p:cNvPr id="29" name="Text 24"/>
          <p:cNvSpPr/>
          <p:nvPr/>
        </p:nvSpPr>
        <p:spPr>
          <a:xfrm>
            <a:off x="10312718" y="4108582"/>
            <a:ext cx="1816037" cy="162878"/>
          </a:xfrm>
          <a:prstGeom prst="rect">
            <a:avLst/>
          </a:prstGeom>
          <a:noFill/>
          <a:ln/>
        </p:spPr>
        <p:txBody>
          <a:bodyPr wrap="none" lIns="0" tIns="0" rIns="0" bIns="0" rtlCol="0" anchor="t"/>
          <a:lstStyle/>
          <a:p>
            <a:pPr marL="0" indent="0" algn="l">
              <a:lnSpc>
                <a:spcPts val="1250"/>
              </a:lnSpc>
              <a:buNone/>
            </a:pPr>
            <a:r>
              <a:rPr lang="en-US" sz="1600" dirty="0">
                <a:solidFill>
                  <a:srgbClr val="BFBFBF"/>
                </a:solidFill>
                <a:latin typeface="Instrument Sans Medium"/>
                <a:ea typeface="Instrument Sans Medium" pitchFamily="34" charset="-122"/>
                <a:cs typeface="Instrument Sans Medium" pitchFamily="34" charset="-120"/>
              </a:rPr>
              <a:t>Films par Année</a:t>
            </a:r>
            <a:endParaRPr lang="en-US" sz="1600">
              <a:latin typeface="Instrument Sans Medium"/>
            </a:endParaRPr>
          </a:p>
        </p:txBody>
      </p:sp>
      <p:sp>
        <p:nvSpPr>
          <p:cNvPr id="30" name="Text 25"/>
          <p:cNvSpPr/>
          <p:nvPr/>
        </p:nvSpPr>
        <p:spPr>
          <a:xfrm>
            <a:off x="10366506" y="4523675"/>
            <a:ext cx="3850551" cy="887842"/>
          </a:xfrm>
          <a:prstGeom prst="rect">
            <a:avLst/>
          </a:prstGeom>
          <a:noFill/>
          <a:ln/>
        </p:spPr>
        <p:txBody>
          <a:bodyPr wrap="square" lIns="0" tIns="0" rIns="0" bIns="0" rtlCol="0" anchor="t"/>
          <a:lstStyle/>
          <a:p>
            <a:pPr marL="0" indent="0" algn="l">
              <a:lnSpc>
                <a:spcPts val="1600"/>
              </a:lnSpc>
              <a:buNone/>
            </a:pPr>
            <a:r>
              <a:rPr lang="en-US" sz="1600" dirty="0">
                <a:solidFill>
                  <a:srgbClr val="BFBFBF"/>
                </a:solidFill>
                <a:latin typeface="Open Sans"/>
                <a:ea typeface="Open Sans"/>
                <a:cs typeface="Open Sans"/>
              </a:rPr>
              <a:t>Un graphique en barres pour suivre les tendances temporelles et l'évolution de la collection au fil des ans.</a:t>
            </a:r>
            <a:endParaRPr lang="en-US" sz="1600">
              <a:latin typeface="Open Sans"/>
              <a:ea typeface="Open Sans"/>
              <a:cs typeface="Open Sans"/>
            </a:endParaRPr>
          </a:p>
        </p:txBody>
      </p:sp>
      <p:sp>
        <p:nvSpPr>
          <p:cNvPr id="31" name="Text 26"/>
          <p:cNvSpPr/>
          <p:nvPr/>
        </p:nvSpPr>
        <p:spPr>
          <a:xfrm>
            <a:off x="5935742" y="7048093"/>
            <a:ext cx="8245316" cy="417195"/>
          </a:xfrm>
          <a:prstGeom prst="rect">
            <a:avLst/>
          </a:prstGeom>
          <a:noFill/>
          <a:ln/>
        </p:spPr>
        <p:txBody>
          <a:bodyPr wrap="square" lIns="0" tIns="0" rIns="0" bIns="0" rtlCol="0" anchor="t"/>
          <a:lstStyle/>
          <a:p>
            <a:pPr marL="0" indent="0" algn="l">
              <a:lnSpc>
                <a:spcPts val="1600"/>
              </a:lnSpc>
              <a:buNone/>
            </a:pPr>
            <a:r>
              <a:rPr lang="en-US" sz="1400" dirty="0">
                <a:solidFill>
                  <a:srgbClr val="BFBFBF"/>
                </a:solidFill>
                <a:latin typeface="Open Sans"/>
                <a:ea typeface="Open Sans"/>
                <a:cs typeface="Open Sans"/>
              </a:rPr>
              <a:t>Ces indicateurs et visualisations offrent une analyse rapide et pertinente de la base de données de films, facilitant la prise de décision et la compréhension de la collection.</a:t>
            </a:r>
            <a:endParaRPr lang="en-US" sz="1400" dirty="0">
              <a:latin typeface="Open Sans"/>
              <a:ea typeface="Open Sans"/>
              <a:cs typeface="Open Sans"/>
            </a:endParaRPr>
          </a:p>
        </p:txBody>
      </p:sp>
      <p:sp>
        <p:nvSpPr>
          <p:cNvPr id="33" name="Rectangle 32">
            <a:extLst>
              <a:ext uri="{FF2B5EF4-FFF2-40B4-BE49-F238E27FC236}">
                <a16:creationId xmlns:a16="http://schemas.microsoft.com/office/drawing/2014/main" id="{C2151F8A-104A-D470-C33F-AA19291F4C97}"/>
              </a:ext>
            </a:extLst>
          </p:cNvPr>
          <p:cNvSpPr/>
          <p:nvPr/>
        </p:nvSpPr>
        <p:spPr>
          <a:xfrm>
            <a:off x="12862409" y="7651281"/>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a:p>
        </p:txBody>
      </p:sp>
      <p:pic>
        <p:nvPicPr>
          <p:cNvPr id="38" name="Image 37" descr="Une image contenant capture d’écran, texte, diagramme, Caractère coloré&#10;&#10;Le contenu généré par l’IA peut être incorrect.">
            <a:extLst>
              <a:ext uri="{FF2B5EF4-FFF2-40B4-BE49-F238E27FC236}">
                <a16:creationId xmlns:a16="http://schemas.microsoft.com/office/drawing/2014/main" id="{45886242-42BF-9AA2-C713-4B3046D2872A}"/>
              </a:ext>
            </a:extLst>
          </p:cNvPr>
          <p:cNvPicPr>
            <a:picLocks noChangeAspect="1"/>
          </p:cNvPicPr>
          <p:nvPr/>
        </p:nvPicPr>
        <p:blipFill>
          <a:blip r:embed="rId7"/>
          <a:stretch>
            <a:fillRect/>
          </a:stretch>
        </p:blipFill>
        <p:spPr>
          <a:xfrm>
            <a:off x="5264" y="1459581"/>
            <a:ext cx="5788694" cy="52984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7352" y="705683"/>
            <a:ext cx="4163616" cy="520422"/>
          </a:xfrm>
          <a:prstGeom prst="rect">
            <a:avLst/>
          </a:prstGeom>
          <a:noFill/>
          <a:ln/>
        </p:spPr>
        <p:txBody>
          <a:bodyPr wrap="none" lIns="0" tIns="0" rIns="0" bIns="0" rtlCol="0" anchor="t"/>
          <a:lstStyle/>
          <a:p>
            <a:pPr marL="0" indent="0" algn="l">
              <a:lnSpc>
                <a:spcPts val="4050"/>
              </a:lnSpc>
              <a:buNone/>
            </a:pPr>
            <a:r>
              <a:rPr lang="en-US" sz="3250" dirty="0">
                <a:solidFill>
                  <a:srgbClr val="FEFEFE"/>
                </a:solidFill>
                <a:latin typeface="Instrument Sans Medium" pitchFamily="34" charset="0"/>
                <a:ea typeface="Instrument Sans Medium" pitchFamily="34" charset="-122"/>
                <a:cs typeface="Instrument Sans Medium" pitchFamily="34" charset="-120"/>
              </a:rPr>
              <a:t>Résultats &amp; Bilan</a:t>
            </a:r>
            <a:endParaRPr lang="en-US" sz="3250" dirty="0"/>
          </a:p>
        </p:txBody>
      </p:sp>
      <p:sp>
        <p:nvSpPr>
          <p:cNvPr id="3" name="Text 1"/>
          <p:cNvSpPr/>
          <p:nvPr/>
        </p:nvSpPr>
        <p:spPr>
          <a:xfrm>
            <a:off x="717352" y="1292662"/>
            <a:ext cx="2498169" cy="319802"/>
          </a:xfrm>
          <a:prstGeom prst="rect">
            <a:avLst/>
          </a:prstGeom>
          <a:noFill/>
          <a:ln/>
        </p:spPr>
        <p:txBody>
          <a:bodyPr wrap="none" lIns="0" tIns="0" rIns="0" bIns="0" rtlCol="0" anchor="t"/>
          <a:lstStyle/>
          <a:p>
            <a:pPr marL="0" indent="0" algn="l">
              <a:lnSpc>
                <a:spcPts val="2450"/>
              </a:lnSpc>
              <a:buNone/>
            </a:pPr>
            <a:r>
              <a:rPr lang="en-US" sz="1950" dirty="0">
                <a:solidFill>
                  <a:srgbClr val="FEFEFE"/>
                </a:solidFill>
                <a:latin typeface="Instrument Sans Medium" pitchFamily="34" charset="0"/>
                <a:ea typeface="Instrument Sans Medium" pitchFamily="34" charset="-122"/>
                <a:cs typeface="Instrument Sans Medium" pitchFamily="34" charset="-120"/>
              </a:rPr>
              <a:t>Objectifs Atteints </a:t>
            </a:r>
            <a:r>
              <a:rPr lang="en-US" sz="1950" dirty="0">
                <a:solidFill>
                  <a:srgbClr val="000000"/>
                </a:solidFill>
                <a:latin typeface="Instrument Sans Medium" pitchFamily="34" charset="0"/>
                <a:ea typeface="Instrument Sans Medium" pitchFamily="34" charset="-122"/>
                <a:cs typeface="Instrument Sans Medium" pitchFamily="34" charset="-120"/>
              </a:rPr>
              <a:t>✅</a:t>
            </a:r>
            <a:endParaRPr lang="en-US" sz="1950" dirty="0"/>
          </a:p>
        </p:txBody>
      </p:sp>
      <p:sp>
        <p:nvSpPr>
          <p:cNvPr id="4" name="Shape 2"/>
          <p:cNvSpPr/>
          <p:nvPr/>
        </p:nvSpPr>
        <p:spPr>
          <a:xfrm>
            <a:off x="717352" y="1862257"/>
            <a:ext cx="166449" cy="999173"/>
          </a:xfrm>
          <a:prstGeom prst="roundRect">
            <a:avLst>
              <a:gd name="adj" fmla="val 15009"/>
            </a:avLst>
          </a:prstGeom>
          <a:solidFill>
            <a:srgbClr val="3E3E3E"/>
          </a:solidFill>
          <a:ln/>
        </p:spPr>
      </p:sp>
      <p:sp>
        <p:nvSpPr>
          <p:cNvPr id="5" name="Text 3"/>
          <p:cNvSpPr/>
          <p:nvPr/>
        </p:nvSpPr>
        <p:spPr>
          <a:xfrm>
            <a:off x="1050250" y="2028706"/>
            <a:ext cx="2133719" cy="260271"/>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Modules Fonctionnels</a:t>
            </a:r>
            <a:endParaRPr lang="en-US" sz="1600" dirty="0"/>
          </a:p>
        </p:txBody>
      </p:sp>
      <p:sp>
        <p:nvSpPr>
          <p:cNvPr id="6" name="Text 4"/>
          <p:cNvSpPr/>
          <p:nvPr/>
        </p:nvSpPr>
        <p:spPr>
          <a:xfrm>
            <a:off x="1050250" y="2388870"/>
            <a:ext cx="12862798" cy="266462"/>
          </a:xfrm>
          <a:prstGeom prst="rect">
            <a:avLst/>
          </a:prstGeom>
          <a:noFill/>
          <a:ln/>
        </p:spPr>
        <p:txBody>
          <a:bodyPr wrap="none" lIns="0" tIns="0" rIns="0" bIns="0" rtlCol="0" anchor="t"/>
          <a:lstStyle/>
          <a:p>
            <a:pPr marL="0" indent="0" algn="l">
              <a:lnSpc>
                <a:spcPts val="2050"/>
              </a:lnSpc>
              <a:buNone/>
            </a:pPr>
            <a:r>
              <a:rPr lang="en-US" sz="1400" dirty="0">
                <a:solidFill>
                  <a:srgbClr val="BFBFBF"/>
                </a:solidFill>
                <a:latin typeface="Open Sans"/>
                <a:ea typeface="Open Sans"/>
                <a:cs typeface="Open Sans"/>
              </a:rPr>
              <a:t>3 modules fonctionnels avec CRUD complet</a:t>
            </a:r>
            <a:endParaRPr lang="en-US" sz="1400">
              <a:latin typeface="Open Sans"/>
              <a:ea typeface="Open Sans"/>
              <a:cs typeface="Open Sans"/>
            </a:endParaRPr>
          </a:p>
        </p:txBody>
      </p:sp>
      <p:sp>
        <p:nvSpPr>
          <p:cNvPr id="7" name="Shape 5"/>
          <p:cNvSpPr/>
          <p:nvPr/>
        </p:nvSpPr>
        <p:spPr>
          <a:xfrm>
            <a:off x="967145" y="3027878"/>
            <a:ext cx="166449" cy="999173"/>
          </a:xfrm>
          <a:prstGeom prst="roundRect">
            <a:avLst>
              <a:gd name="adj" fmla="val 15009"/>
            </a:avLst>
          </a:prstGeom>
          <a:solidFill>
            <a:srgbClr val="3E3E3E"/>
          </a:solidFill>
          <a:ln/>
        </p:spPr>
      </p:sp>
      <p:sp>
        <p:nvSpPr>
          <p:cNvPr id="8" name="Text 6"/>
          <p:cNvSpPr/>
          <p:nvPr/>
        </p:nvSpPr>
        <p:spPr>
          <a:xfrm>
            <a:off x="1300043" y="3194328"/>
            <a:ext cx="2134314" cy="260271"/>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Intégration API OMDB</a:t>
            </a:r>
            <a:endParaRPr lang="en-US" sz="1600" dirty="0"/>
          </a:p>
        </p:txBody>
      </p:sp>
      <p:sp>
        <p:nvSpPr>
          <p:cNvPr id="9" name="Text 7"/>
          <p:cNvSpPr/>
          <p:nvPr/>
        </p:nvSpPr>
        <p:spPr>
          <a:xfrm>
            <a:off x="1300043" y="3554492"/>
            <a:ext cx="12613005" cy="266462"/>
          </a:xfrm>
          <a:prstGeom prst="rect">
            <a:avLst/>
          </a:prstGeom>
          <a:noFill/>
          <a:ln/>
        </p:spPr>
        <p:txBody>
          <a:bodyPr wrap="none" lIns="0" tIns="0" rIns="0" bIns="0" rtlCol="0" anchor="t"/>
          <a:lstStyle/>
          <a:p>
            <a:pPr marL="0" indent="0" algn="l">
              <a:lnSpc>
                <a:spcPts val="2050"/>
              </a:lnSpc>
              <a:buNone/>
            </a:pPr>
            <a:r>
              <a:rPr lang="en-US" sz="1400" dirty="0">
                <a:solidFill>
                  <a:srgbClr val="BFBFBF"/>
                </a:solidFill>
                <a:latin typeface="Open Sans"/>
                <a:ea typeface="Open Sans"/>
                <a:cs typeface="Open Sans"/>
              </a:rPr>
              <a:t>API OMDB intégrée et fonctionnelle</a:t>
            </a:r>
            <a:endParaRPr lang="en-US" sz="1400">
              <a:latin typeface="Calibri"/>
              <a:ea typeface="Calibri"/>
              <a:cs typeface="Calibri"/>
            </a:endParaRPr>
          </a:p>
        </p:txBody>
      </p:sp>
      <p:sp>
        <p:nvSpPr>
          <p:cNvPr id="10" name="Shape 8"/>
          <p:cNvSpPr/>
          <p:nvPr/>
        </p:nvSpPr>
        <p:spPr>
          <a:xfrm>
            <a:off x="1216938" y="4193500"/>
            <a:ext cx="166449" cy="999173"/>
          </a:xfrm>
          <a:prstGeom prst="roundRect">
            <a:avLst>
              <a:gd name="adj" fmla="val 15009"/>
            </a:avLst>
          </a:prstGeom>
          <a:solidFill>
            <a:srgbClr val="3E3E3E"/>
          </a:solidFill>
          <a:ln/>
        </p:spPr>
      </p:sp>
      <p:sp>
        <p:nvSpPr>
          <p:cNvPr id="11" name="Text 9"/>
          <p:cNvSpPr/>
          <p:nvPr/>
        </p:nvSpPr>
        <p:spPr>
          <a:xfrm>
            <a:off x="1549837" y="4359950"/>
            <a:ext cx="2081808" cy="260271"/>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Dashboard Complet</a:t>
            </a:r>
            <a:endParaRPr lang="en-US" sz="1600" dirty="0"/>
          </a:p>
        </p:txBody>
      </p:sp>
      <p:sp>
        <p:nvSpPr>
          <p:cNvPr id="12" name="Text 10"/>
          <p:cNvSpPr/>
          <p:nvPr/>
        </p:nvSpPr>
        <p:spPr>
          <a:xfrm>
            <a:off x="1549837" y="4720114"/>
            <a:ext cx="12363212" cy="266462"/>
          </a:xfrm>
          <a:prstGeom prst="rect">
            <a:avLst/>
          </a:prstGeom>
          <a:noFill/>
          <a:ln/>
        </p:spPr>
        <p:txBody>
          <a:bodyPr wrap="none" lIns="0" tIns="0" rIns="0" bIns="0" rtlCol="0" anchor="t"/>
          <a:lstStyle/>
          <a:p>
            <a:pPr marL="0" indent="0" algn="l">
              <a:lnSpc>
                <a:spcPts val="2050"/>
              </a:lnSpc>
              <a:buNone/>
            </a:pPr>
            <a:r>
              <a:rPr lang="en-US" sz="1400" dirty="0">
                <a:solidFill>
                  <a:srgbClr val="BFBFBF"/>
                </a:solidFill>
                <a:latin typeface="Open Sans"/>
                <a:ea typeface="Open Sans"/>
                <a:cs typeface="Open Sans"/>
              </a:rPr>
              <a:t>4 KPI et 2 graphiques interactifs</a:t>
            </a:r>
            <a:endParaRPr lang="en-US" sz="1400">
              <a:latin typeface="Open Sans"/>
              <a:ea typeface="Open Sans"/>
              <a:cs typeface="Open Sans"/>
            </a:endParaRPr>
          </a:p>
        </p:txBody>
      </p:sp>
      <p:sp>
        <p:nvSpPr>
          <p:cNvPr id="13" name="Shape 11"/>
          <p:cNvSpPr/>
          <p:nvPr/>
        </p:nvSpPr>
        <p:spPr>
          <a:xfrm>
            <a:off x="1466731" y="5359122"/>
            <a:ext cx="166449" cy="999173"/>
          </a:xfrm>
          <a:prstGeom prst="roundRect">
            <a:avLst>
              <a:gd name="adj" fmla="val 15009"/>
            </a:avLst>
          </a:prstGeom>
          <a:solidFill>
            <a:srgbClr val="3E3E3E"/>
          </a:solidFill>
          <a:ln/>
        </p:spPr>
      </p:sp>
      <p:sp>
        <p:nvSpPr>
          <p:cNvPr id="14" name="Text 12"/>
          <p:cNvSpPr/>
          <p:nvPr/>
        </p:nvSpPr>
        <p:spPr>
          <a:xfrm>
            <a:off x="1799630" y="5525572"/>
            <a:ext cx="2081808" cy="260271"/>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Design Responsive</a:t>
            </a:r>
            <a:endParaRPr lang="en-US" sz="1600" dirty="0"/>
          </a:p>
        </p:txBody>
      </p:sp>
      <p:sp>
        <p:nvSpPr>
          <p:cNvPr id="15" name="Text 13"/>
          <p:cNvSpPr/>
          <p:nvPr/>
        </p:nvSpPr>
        <p:spPr>
          <a:xfrm>
            <a:off x="1799630" y="5885736"/>
            <a:ext cx="12113419" cy="266462"/>
          </a:xfrm>
          <a:prstGeom prst="rect">
            <a:avLst/>
          </a:prstGeom>
          <a:noFill/>
          <a:ln/>
        </p:spPr>
        <p:txBody>
          <a:bodyPr wrap="none" lIns="0" tIns="0" rIns="0" bIns="0" rtlCol="0" anchor="t"/>
          <a:lstStyle/>
          <a:p>
            <a:pPr marL="0" indent="0" algn="l">
              <a:lnSpc>
                <a:spcPts val="2050"/>
              </a:lnSpc>
              <a:buNone/>
            </a:pPr>
            <a:r>
              <a:rPr lang="en-US" sz="1400" dirty="0">
                <a:solidFill>
                  <a:srgbClr val="BFBFBF"/>
                </a:solidFill>
                <a:latin typeface="Open Sans"/>
                <a:ea typeface="Open Sans"/>
                <a:cs typeface="Open Sans"/>
              </a:rPr>
              <a:t>Application responsive (mobile et desktop)</a:t>
            </a:r>
            <a:endParaRPr lang="en-US" sz="1400">
              <a:latin typeface="Open Sans"/>
              <a:ea typeface="Open Sans"/>
              <a:cs typeface="Open Sans"/>
            </a:endParaRPr>
          </a:p>
        </p:txBody>
      </p:sp>
      <p:sp>
        <p:nvSpPr>
          <p:cNvPr id="16" name="Shape 14"/>
          <p:cNvSpPr/>
          <p:nvPr/>
        </p:nvSpPr>
        <p:spPr>
          <a:xfrm>
            <a:off x="1216938" y="6524744"/>
            <a:ext cx="166449" cy="999173"/>
          </a:xfrm>
          <a:prstGeom prst="roundRect">
            <a:avLst>
              <a:gd name="adj" fmla="val 15009"/>
            </a:avLst>
          </a:prstGeom>
          <a:solidFill>
            <a:srgbClr val="3E3E3E"/>
          </a:solidFill>
          <a:ln/>
        </p:spPr>
      </p:sp>
      <p:sp>
        <p:nvSpPr>
          <p:cNvPr id="17" name="Text 15"/>
          <p:cNvSpPr/>
          <p:nvPr/>
        </p:nvSpPr>
        <p:spPr>
          <a:xfrm>
            <a:off x="1549837" y="6691193"/>
            <a:ext cx="2081808" cy="260271"/>
          </a:xfrm>
          <a:prstGeom prst="rect">
            <a:avLst/>
          </a:prstGeom>
          <a:noFill/>
          <a:ln/>
        </p:spPr>
        <p:txBody>
          <a:bodyPr wrap="none" lIns="0" tIns="0" rIns="0" bIns="0" rtlCol="0" anchor="t"/>
          <a:lstStyle/>
          <a:p>
            <a:pPr marL="0" indent="0" algn="l">
              <a:lnSpc>
                <a:spcPts val="2000"/>
              </a:lnSpc>
              <a:buNone/>
            </a:pPr>
            <a:r>
              <a:rPr lang="en-US" sz="1600" dirty="0">
                <a:solidFill>
                  <a:srgbClr val="BFBFBF"/>
                </a:solidFill>
                <a:latin typeface="Instrument Sans Medium" pitchFamily="34" charset="0"/>
                <a:ea typeface="Instrument Sans Medium" pitchFamily="34" charset="-122"/>
                <a:cs typeface="Instrument Sans Medium" pitchFamily="34" charset="-120"/>
              </a:rPr>
              <a:t>100% JS</a:t>
            </a:r>
            <a:endParaRPr lang="en-US" sz="1600" dirty="0"/>
          </a:p>
        </p:txBody>
      </p:sp>
      <p:sp>
        <p:nvSpPr>
          <p:cNvPr id="18" name="Text 16"/>
          <p:cNvSpPr/>
          <p:nvPr/>
        </p:nvSpPr>
        <p:spPr>
          <a:xfrm>
            <a:off x="1549837" y="7051358"/>
            <a:ext cx="12363212" cy="266462"/>
          </a:xfrm>
          <a:prstGeom prst="rect">
            <a:avLst/>
          </a:prstGeom>
          <a:noFill/>
          <a:ln/>
        </p:spPr>
        <p:txBody>
          <a:bodyPr wrap="none" lIns="0" tIns="0" rIns="0" bIns="0" rtlCol="0" anchor="t"/>
          <a:lstStyle/>
          <a:p>
            <a:pPr marL="0" indent="0" algn="l">
              <a:lnSpc>
                <a:spcPts val="2050"/>
              </a:lnSpc>
              <a:buNone/>
            </a:pPr>
            <a:r>
              <a:rPr lang="en-US" sz="1400" dirty="0">
                <a:solidFill>
                  <a:srgbClr val="BFBFBF"/>
                </a:solidFill>
                <a:latin typeface="Open Sans"/>
                <a:ea typeface="Open Sans"/>
                <a:cs typeface="Open Sans"/>
              </a:rPr>
              <a:t>JavaScript Vanilla sans framework</a:t>
            </a:r>
            <a:endParaRPr lang="en-US" sz="1400">
              <a:latin typeface="Open Sans"/>
              <a:ea typeface="Open Sans"/>
              <a:cs typeface="Open Sans"/>
            </a:endParaRPr>
          </a:p>
        </p:txBody>
      </p:sp>
      <p:sp>
        <p:nvSpPr>
          <p:cNvPr id="20" name="Rectangle 19">
            <a:extLst>
              <a:ext uri="{FF2B5EF4-FFF2-40B4-BE49-F238E27FC236}">
                <a16:creationId xmlns:a16="http://schemas.microsoft.com/office/drawing/2014/main" id="{B5DEB972-D75A-25CB-8051-401EA6FB7F98}"/>
              </a:ext>
            </a:extLst>
          </p:cNvPr>
          <p:cNvSpPr/>
          <p:nvPr/>
        </p:nvSpPr>
        <p:spPr>
          <a:xfrm>
            <a:off x="12830878" y="7651281"/>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35418"/>
            <a:ext cx="7088267" cy="885944"/>
          </a:xfrm>
          <a:prstGeom prst="rect">
            <a:avLst/>
          </a:prstGeom>
          <a:noFill/>
          <a:ln/>
        </p:spPr>
        <p:txBody>
          <a:bodyPr wrap="none" lIns="0" tIns="0" rIns="0" bIns="0" rtlCol="0" anchor="t"/>
          <a:lstStyle/>
          <a:p>
            <a:pPr marL="0" indent="0" algn="l">
              <a:lnSpc>
                <a:spcPts val="6950"/>
              </a:lnSpc>
              <a:buNone/>
            </a:pPr>
            <a:r>
              <a:rPr lang="en-US" sz="5550" dirty="0">
                <a:solidFill>
                  <a:srgbClr val="FEFEFE"/>
                </a:solidFill>
                <a:latin typeface="Instrument Sans Medium" pitchFamily="34" charset="0"/>
                <a:ea typeface="Instrument Sans Medium" pitchFamily="34" charset="-122"/>
                <a:cs typeface="Instrument Sans Medium" pitchFamily="34" charset="-120"/>
              </a:rPr>
              <a:t>Remerciements</a:t>
            </a:r>
            <a:endParaRPr lang="en-US" sz="5550" dirty="0"/>
          </a:p>
        </p:txBody>
      </p:sp>
      <p:sp>
        <p:nvSpPr>
          <p:cNvPr id="3" name="Text 1"/>
          <p:cNvSpPr/>
          <p:nvPr/>
        </p:nvSpPr>
        <p:spPr>
          <a:xfrm>
            <a:off x="793790" y="2434709"/>
            <a:ext cx="7148513" cy="708779"/>
          </a:xfrm>
          <a:prstGeom prst="rect">
            <a:avLst/>
          </a:prstGeom>
          <a:noFill/>
          <a:ln/>
        </p:spPr>
        <p:txBody>
          <a:bodyPr wrap="none" lIns="0" tIns="0" rIns="0" bIns="0" rtlCol="0" anchor="t"/>
          <a:lstStyle/>
          <a:p>
            <a:pPr marL="0" indent="0" algn="l">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Merci pour votre attention !</a:t>
            </a:r>
            <a:endParaRPr lang="en-US" sz="4450" dirty="0"/>
          </a:p>
        </p:txBody>
      </p:sp>
      <p:sp>
        <p:nvSpPr>
          <p:cNvPr id="4" name="Text 2"/>
          <p:cNvSpPr/>
          <p:nvPr/>
        </p:nvSpPr>
        <p:spPr>
          <a:xfrm>
            <a:off x="793790" y="3568779"/>
            <a:ext cx="13042821" cy="1134189"/>
          </a:xfrm>
          <a:prstGeom prst="rect">
            <a:avLst/>
          </a:prstGeom>
          <a:noFill/>
          <a:ln/>
        </p:spPr>
        <p:txBody>
          <a:bodyPr wrap="square" lIns="0" tIns="0" rIns="0" bIns="0" rtlCol="0" anchor="t"/>
          <a:lstStyle/>
          <a:p>
            <a:pPr marL="0" indent="0" algn="l">
              <a:lnSpc>
                <a:spcPts val="4450"/>
              </a:lnSpc>
              <a:buNone/>
            </a:pPr>
            <a:r>
              <a:rPr lang="en-US" sz="2750" dirty="0">
                <a:solidFill>
                  <a:srgbClr val="BFBFBF"/>
                </a:solidFill>
                <a:latin typeface="Open Sans" pitchFamily="34" charset="0"/>
                <a:ea typeface="Open Sans" pitchFamily="34" charset="-122"/>
                <a:cs typeface="Open Sans" pitchFamily="34" charset="-120"/>
              </a:rPr>
              <a:t>Nous espérons que cette présentation vous a offert un aperçu clair et détaillé de CineTech, notre projet de Smart Backoffice Dashboard.</a:t>
            </a:r>
            <a:endParaRPr lang="en-US" sz="2750" dirty="0"/>
          </a:p>
        </p:txBody>
      </p:sp>
      <p:sp>
        <p:nvSpPr>
          <p:cNvPr id="5" name="Text 3"/>
          <p:cNvSpPr/>
          <p:nvPr/>
        </p:nvSpPr>
        <p:spPr>
          <a:xfrm>
            <a:off x="1219081" y="5340906"/>
            <a:ext cx="12617529" cy="1134189"/>
          </a:xfrm>
          <a:prstGeom prst="rect">
            <a:avLst/>
          </a:prstGeom>
          <a:noFill/>
          <a:ln/>
        </p:spPr>
        <p:txBody>
          <a:bodyPr wrap="square" lIns="0" tIns="0" rIns="0" bIns="0" rtlCol="0" anchor="t"/>
          <a:lstStyle/>
          <a:p>
            <a:pPr marL="0" indent="0" algn="l">
              <a:lnSpc>
                <a:spcPts val="4450"/>
              </a:lnSpc>
              <a:buNone/>
            </a:pPr>
            <a:r>
              <a:rPr lang="en-US" sz="2750" dirty="0">
                <a:solidFill>
                  <a:srgbClr val="BFBFBF"/>
                </a:solidFill>
                <a:latin typeface="Open Sans" pitchFamily="34" charset="0"/>
                <a:ea typeface="Open Sans" pitchFamily="34" charset="-122"/>
                <a:cs typeface="Open Sans" pitchFamily="34" charset="-120"/>
              </a:rPr>
              <a:t>Votre temps et votre intérêt sont grandement appréciés. Nous sommes à votre disposition pour toute question.</a:t>
            </a:r>
            <a:endParaRPr lang="en-US" sz="2750" dirty="0"/>
          </a:p>
        </p:txBody>
      </p:sp>
      <p:sp>
        <p:nvSpPr>
          <p:cNvPr id="6" name="Shape 4"/>
          <p:cNvSpPr/>
          <p:nvPr/>
        </p:nvSpPr>
        <p:spPr>
          <a:xfrm>
            <a:off x="793790" y="5021937"/>
            <a:ext cx="38100" cy="1772126"/>
          </a:xfrm>
          <a:prstGeom prst="rect">
            <a:avLst/>
          </a:prstGeom>
          <a:solidFill>
            <a:srgbClr val="F5F547"/>
          </a:solidFill>
          <a:ln/>
        </p:spPr>
      </p:sp>
      <p:sp>
        <p:nvSpPr>
          <p:cNvPr id="8" name="Rectangle 7">
            <a:extLst>
              <a:ext uri="{FF2B5EF4-FFF2-40B4-BE49-F238E27FC236}">
                <a16:creationId xmlns:a16="http://schemas.microsoft.com/office/drawing/2014/main" id="{F571C9AC-267E-B108-746A-30307DCB60BD}"/>
              </a:ext>
            </a:extLst>
          </p:cNvPr>
          <p:cNvSpPr/>
          <p:nvPr/>
        </p:nvSpPr>
        <p:spPr>
          <a:xfrm>
            <a:off x="12862409" y="7651281"/>
            <a:ext cx="1741714" cy="522513"/>
          </a:xfrm>
          <a:prstGeom prst="rect">
            <a:avLst/>
          </a:prstGeom>
          <a:solidFill>
            <a:srgbClr val="1F1F1F"/>
          </a:solidFill>
          <a:ln>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2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Personnalisé</PresentationFormat>
  <Paragraphs>0</Paragraphs>
  <Slides>9</Slides>
  <Notes>9</Notes>
  <HiddenSlides>0</HiddenSlides>
  <MMClips>0</MMClips>
  <ScaleCrop>false</ScaleCrop>
  <HeadingPairs>
    <vt:vector size="4" baseType="variant">
      <vt:variant>
        <vt:lpstr>Thème</vt:lpstr>
      </vt:variant>
      <vt:variant>
        <vt:i4>1</vt:i4>
      </vt:variant>
      <vt:variant>
        <vt:lpstr>Titres des diapositives</vt:lpstr>
      </vt:variant>
      <vt:variant>
        <vt:i4>9</vt:i4>
      </vt:variant>
    </vt:vector>
  </HeadingPairs>
  <TitlesOfParts>
    <vt:vector size="10"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262</cp:revision>
  <dcterms:created xsi:type="dcterms:W3CDTF">2026-01-11T00:49:56Z</dcterms:created>
  <dcterms:modified xsi:type="dcterms:W3CDTF">2026-01-11T21:57:20Z</dcterms:modified>
</cp:coreProperties>
</file>